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3" r:id="rId5"/>
    <p:sldId id="259" r:id="rId6"/>
    <p:sldId id="260" r:id="rId7"/>
    <p:sldId id="264" r:id="rId8"/>
    <p:sldId id="261" r:id="rId9"/>
    <p:sldId id="262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2EB507-C07E-6BCA-BD3D-3689A12F455F}" v="19" dt="2026-09-28T23:45:58.7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876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2160240"/>
            <a:ext cx="5715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5934075"/>
            <a:ext cx="10972800" cy="3524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5934075"/>
            <a:ext cx="109728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5467350"/>
            <a:ext cx="133350" cy="1524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6313" y="5467350"/>
            <a:ext cx="133350" cy="1524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2925" y="5467350"/>
            <a:ext cx="133350" cy="152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1920" y="5467350"/>
            <a:ext cx="133350" cy="152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43082" y="5467350"/>
            <a:ext cx="133350" cy="152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571500"/>
            <a:ext cx="115824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8BDF8"/>
                </a:solidFill>
                <a:latin typeface="Arial"/>
              </a:rPr>
              <a:t>UNIVERSIDADE CATÓLICA DE BRASÍLIA • CIÊNCIA DA COMPUTAÇÃO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838200"/>
            <a:ext cx="11582400" cy="5028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sz="3600" b="1" i="0" u="none">
                <a:solidFill>
                  <a:srgbClr val="FFFFFF"/>
                </a:solidFill>
                <a:latin typeface="Arial"/>
              </a:rPr>
              <a:t>Sistema Gerenciador de Loja (SGL)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1493490"/>
            <a:ext cx="695325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94A3B8"/>
                </a:solidFill>
                <a:latin typeface="Arial"/>
              </a:rPr>
              <a:t>Relatório de Banco de Dados: Do Modelo Conceitual à Normalização Operacional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5191125"/>
            <a:ext cx="115824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Arial"/>
              </a:rPr>
              <a:t>INTEGRANTES DO GRUPO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6134100"/>
            <a:ext cx="324315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Arial"/>
              </a:rPr>
              <a:t>Disciplina:</a:t>
            </a:r>
            <a:r>
              <a:rPr sz="1050" b="0" i="0" u="none">
                <a:solidFill>
                  <a:srgbClr val="64748B"/>
                </a:solidFill>
                <a:latin typeface="Arial"/>
              </a:rPr>
              <a:t> Laboratório de Banco de Dados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46861" y="6134100"/>
            <a:ext cx="247333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Arial"/>
              </a:rPr>
              <a:t>Orientador:</a:t>
            </a:r>
            <a:r>
              <a:rPr sz="1050" b="0" i="0" u="none">
                <a:solidFill>
                  <a:srgbClr val="64748B"/>
                </a:solidFill>
                <a:latin typeface="Arial"/>
              </a:rPr>
              <a:t> Prof. Samuel Novais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68272" y="6134100"/>
            <a:ext cx="1399728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Arial"/>
              </a:rPr>
              <a:t>Brasília, DF •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" y="5457825"/>
            <a:ext cx="1319063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8FAFC"/>
                </a:solidFill>
                <a:latin typeface="Arial"/>
              </a:rPr>
              <a:t>David Lafaiete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04913" y="5457825"/>
            <a:ext cx="2054014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8FAFC"/>
                </a:solidFill>
                <a:latin typeface="Arial"/>
              </a:rPr>
              <a:t>Jhony Moraes da Silva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81525" y="5457825"/>
            <a:ext cx="2381994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8FAFC"/>
                </a:solidFill>
                <a:latin typeface="Arial"/>
              </a:rPr>
              <a:t>João Vítor Ferreira Calado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20520" y="5457825"/>
            <a:ext cx="2022202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8FAFC"/>
                </a:solidFill>
                <a:latin typeface="Arial"/>
              </a:rPr>
              <a:t>Kauã Lacerda de Lima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71682" y="5457825"/>
            <a:ext cx="1969368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8FAFC"/>
                </a:solidFill>
                <a:latin typeface="Arial"/>
              </a:rPr>
              <a:t>Rafael de Sousa Silva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11055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01030"/>
            <a:ext cx="1219200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3958083"/>
            <a:ext cx="10972800" cy="1438275"/>
          </a:xfrm>
          <a:prstGeom prst="roundRect">
            <a:avLst>
              <a:gd name="adj" fmla="val 79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2419796"/>
            <a:ext cx="5391150" cy="1347787"/>
          </a:xfrm>
          <a:prstGeom prst="roundRect">
            <a:avLst>
              <a:gd name="adj" fmla="val 848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191250" y="2419796"/>
            <a:ext cx="5391150" cy="1347787"/>
          </a:xfrm>
          <a:prstGeom prst="roundRect">
            <a:avLst>
              <a:gd name="adj" fmla="val 848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09600" y="3758058"/>
            <a:ext cx="53911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9600" y="2419796"/>
            <a:ext cx="53911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09600" y="2419796"/>
            <a:ext cx="38100" cy="1347787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991225" y="2419796"/>
            <a:ext cx="9525" cy="134778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191250" y="3758058"/>
            <a:ext cx="53911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91250" y="2419796"/>
            <a:ext cx="53911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91250" y="2419796"/>
            <a:ext cx="38100" cy="1347787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1572875" y="2419796"/>
            <a:ext cx="9525" cy="134778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2657921"/>
            <a:ext cx="342900" cy="3429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7950" y="2657921"/>
            <a:ext cx="342900" cy="3429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025" y="2753171"/>
            <a:ext cx="171450" cy="1524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3200" y="2753171"/>
            <a:ext cx="152400" cy="1524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09600" y="381000"/>
            <a:ext cx="115824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Arial"/>
              </a:rPr>
              <a:t>PARTE 1 • DOMÍNIO DO SISTEMA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0" y="590550"/>
            <a:ext cx="11582400" cy="319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2100" b="1" i="0" u="none">
                <a:solidFill>
                  <a:srgbClr val="0F172A"/>
                </a:solidFill>
                <a:latin typeface="Arial"/>
              </a:rPr>
              <a:t>Documento de Escopo &amp; Regras de Negócio (A1)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7725" y="4158108"/>
            <a:ext cx="1134427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Arial"/>
              </a:rPr>
              <a:t>DIRETRIZES ESSENCIAIS DE NEGÓCIO (RN01 - RN20)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6300" y="3115121"/>
            <a:ext cx="4981575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475569"/>
                </a:solidFill>
                <a:latin typeface="Arial"/>
              </a:rPr>
              <a:t>Gestão comercial completa para varejo de médio porte, integrando clientes, vendedores, estoque e pagamentos.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7950" y="3115121"/>
            <a:ext cx="4981575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475569"/>
                </a:solidFill>
                <a:latin typeface="Arial"/>
              </a:rPr>
              <a:t>Unicidade de CPF/CNPJ, e-mails e autenticação com hash de senha para vendedores.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33500" y="2729358"/>
            <a:ext cx="217605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Arial"/>
              </a:rPr>
              <a:t>Escopo Operacional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15150" y="2729358"/>
            <a:ext cx="265111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Arial"/>
              </a:rPr>
              <a:t>Integridade &amp; Segurança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7725" y="4424808"/>
            <a:ext cx="2885405" cy="2251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025"/>
              </a:lnSpc>
            </a:pPr>
            <a:r>
              <a:rPr lang="pt-BR" sz="1125" b="1" dirty="0">
                <a:solidFill>
                  <a:srgbClr val="0F172A"/>
                </a:solidFill>
                <a:latin typeface="Arial"/>
              </a:rPr>
              <a:t>Regra de Negócio 01 (CPF Único e Válido)</a:t>
            </a:r>
            <a:endParaRPr sz="1125" b="0" i="0" u="none" dirty="0">
              <a:solidFill>
                <a:srgbClr val="334155"/>
              </a:solidFill>
              <a:latin typeface="Arial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47725" y="4681983"/>
            <a:ext cx="3222036" cy="2251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025"/>
              </a:lnSpc>
            </a:pPr>
            <a:r>
              <a:rPr lang="pt-BR" sz="1125" b="1" dirty="0">
                <a:solidFill>
                  <a:srgbClr val="0F172A"/>
                </a:solidFill>
                <a:latin typeface="Arial"/>
              </a:rPr>
              <a:t>Regra de Negócio 03 (Segurança do Vendedor)</a:t>
            </a:r>
            <a:endParaRPr sz="1125" b="0" i="0" u="none" dirty="0">
              <a:solidFill>
                <a:srgbClr val="334155"/>
              </a:solidFill>
              <a:latin typeface="Arial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47725" y="4939158"/>
            <a:ext cx="2997615" cy="2251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025"/>
              </a:lnSpc>
            </a:pPr>
            <a:r>
              <a:rPr lang="pt-BR" sz="1125" b="1" dirty="0">
                <a:solidFill>
                  <a:srgbClr val="0F172A"/>
                </a:solidFill>
                <a:latin typeface="Arial"/>
              </a:rPr>
              <a:t>Regra de Negócio 06 (CNPJ do Fornecedor)</a:t>
            </a:r>
            <a:endParaRPr sz="1125" b="0" i="0" u="none" dirty="0">
              <a:solidFill>
                <a:srgbClr val="334155"/>
              </a:solidFill>
              <a:latin typeface="Arial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210300" y="4424808"/>
            <a:ext cx="3614772" cy="2251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025"/>
              </a:lnSpc>
            </a:pPr>
            <a:r>
              <a:rPr lang="pt-BR" sz="1125" b="1" dirty="0">
                <a:solidFill>
                  <a:srgbClr val="0F172A"/>
                </a:solidFill>
                <a:latin typeface="Arial"/>
              </a:rPr>
              <a:t>Regra de Negócio 10 (Validação de Preço e Estoque)</a:t>
            </a:r>
            <a:endParaRPr sz="1125" b="0" i="0" u="none" dirty="0">
              <a:solidFill>
                <a:srgbClr val="334155"/>
              </a:solidFill>
              <a:latin typeface="Arial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210300" y="4681983"/>
            <a:ext cx="3951403" cy="2251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025"/>
              </a:lnSpc>
            </a:pPr>
            <a:r>
              <a:rPr lang="pt-BR" sz="1125" b="1" dirty="0">
                <a:solidFill>
                  <a:srgbClr val="0F172A"/>
                </a:solidFill>
                <a:latin typeface="Arial"/>
              </a:rPr>
              <a:t>Regra de Negócio 16 (Congelamento de Preço no Pedido)</a:t>
            </a:r>
            <a:endParaRPr sz="1125" b="0" i="0" u="none" dirty="0">
              <a:solidFill>
                <a:srgbClr val="334155"/>
              </a:solidFill>
              <a:latin typeface="Arial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210300" y="4939158"/>
            <a:ext cx="3646832" cy="2251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025"/>
              </a:lnSpc>
            </a:pPr>
            <a:r>
              <a:rPr lang="pt-BR" sz="1125" b="1">
                <a:solidFill>
                  <a:srgbClr val="0F172A"/>
                </a:solidFill>
                <a:latin typeface="Arial"/>
              </a:rPr>
              <a:t>Regra de Negócio 21 </a:t>
            </a:r>
            <a:r>
              <a:rPr lang="pt-BR" sz="1125" b="1" dirty="0">
                <a:solidFill>
                  <a:srgbClr val="0F172A"/>
                </a:solidFill>
                <a:latin typeface="Arial"/>
              </a:rPr>
              <a:t>(Restrição de Status do Pedido)</a:t>
            </a:r>
            <a:endParaRPr sz="1125" b="0" i="0" u="none" dirty="0">
              <a:solidFill>
                <a:srgbClr val="334155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11055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01030"/>
            <a:ext cx="1219200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2360265"/>
            <a:ext cx="6076950" cy="3095625"/>
          </a:xfrm>
          <a:prstGeom prst="roundRect">
            <a:avLst>
              <a:gd name="adj" fmla="val 3692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915150" y="2457896"/>
            <a:ext cx="4667250" cy="1373981"/>
          </a:xfrm>
          <a:prstGeom prst="roundRect">
            <a:avLst>
              <a:gd name="adj" fmla="val 831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915150" y="3984277"/>
            <a:ext cx="4667250" cy="1373981"/>
          </a:xfrm>
          <a:prstGeom prst="roundRect">
            <a:avLst>
              <a:gd name="adj" fmla="val 831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47725" y="2903190"/>
            <a:ext cx="5600700" cy="371475"/>
          </a:xfrm>
          <a:prstGeom prst="roundRect">
            <a:avLst>
              <a:gd name="adj" fmla="val 2051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47725" y="3388965"/>
            <a:ext cx="5600700" cy="371475"/>
          </a:xfrm>
          <a:prstGeom prst="roundRect">
            <a:avLst>
              <a:gd name="adj" fmla="val 2051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47725" y="3874740"/>
            <a:ext cx="5600700" cy="371475"/>
          </a:xfrm>
          <a:prstGeom prst="roundRect">
            <a:avLst>
              <a:gd name="adj" fmla="val 2051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47725" y="4360515"/>
            <a:ext cx="5600700" cy="371475"/>
          </a:xfrm>
          <a:prstGeom prst="roundRect">
            <a:avLst>
              <a:gd name="adj" fmla="val 2051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47725" y="4846290"/>
            <a:ext cx="5600700" cy="371475"/>
          </a:xfrm>
          <a:prstGeom prst="roundRect">
            <a:avLst>
              <a:gd name="adj" fmla="val 2051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09600" y="381000"/>
            <a:ext cx="115824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Arial"/>
              </a:rPr>
              <a:t>PARTE 2 • ARQUITETURA DE DADOS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590550"/>
            <a:ext cx="11582400" cy="319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2100" b="1" i="0" u="none">
                <a:solidFill>
                  <a:srgbClr val="0F172A"/>
                </a:solidFill>
                <a:latin typeface="Arial"/>
              </a:rPr>
              <a:t>Modelo Entidade-Relacionamento Conceitual (MER)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725" y="2598390"/>
            <a:ext cx="700087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Arial"/>
              </a:rPr>
              <a:t>VISÃO GERAL DAS ENTIDADES E CARDINALIDADES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53275" y="2696021"/>
            <a:ext cx="503872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2563EB"/>
                </a:solidFill>
                <a:latin typeface="Arial"/>
              </a:rPr>
              <a:t>Hierarquia de Especialização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53275" y="2972246"/>
            <a:ext cx="4286250" cy="621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475569"/>
                </a:solidFill>
                <a:latin typeface="Arial"/>
              </a:rPr>
              <a:t>Centralização de dados comuns em </a:t>
            </a:r>
            <a:r>
              <a:rPr sz="1125" b="1" i="0" u="none">
                <a:solidFill>
                  <a:srgbClr val="475569"/>
                </a:solidFill>
                <a:latin typeface="Arial"/>
              </a:rPr>
              <a:t>pessoa</a:t>
            </a:r>
            <a:r>
              <a:rPr sz="1125" b="0" i="0" u="none">
                <a:solidFill>
                  <a:srgbClr val="475569"/>
                </a:solidFill>
                <a:latin typeface="Arial"/>
              </a:rPr>
              <a:t> com extensões exclusivas para </a:t>
            </a:r>
            <a:r>
              <a:rPr sz="1125" b="1" i="0" u="none">
                <a:solidFill>
                  <a:srgbClr val="475569"/>
                </a:solidFill>
                <a:latin typeface="Arial"/>
              </a:rPr>
              <a:t>cliente</a:t>
            </a:r>
            <a:r>
              <a:rPr sz="1125" b="0" i="0" u="none">
                <a:solidFill>
                  <a:srgbClr val="475569"/>
                </a:solidFill>
                <a:latin typeface="Arial"/>
              </a:rPr>
              <a:t> (data_cadastro) e </a:t>
            </a:r>
            <a:r>
              <a:rPr sz="1125" b="1" i="0" u="none">
                <a:solidFill>
                  <a:srgbClr val="475569"/>
                </a:solidFill>
                <a:latin typeface="Arial"/>
              </a:rPr>
              <a:t>vendedor</a:t>
            </a:r>
            <a:r>
              <a:rPr sz="1125" b="0" i="0" u="none">
                <a:solidFill>
                  <a:srgbClr val="475569"/>
                </a:solidFill>
                <a:latin typeface="Arial"/>
              </a:rPr>
              <a:t> (login, senha_hash).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53275" y="4222402"/>
            <a:ext cx="503872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D9488"/>
                </a:solidFill>
                <a:latin typeface="Arial"/>
              </a:rPr>
              <a:t>Auditoria &amp; Temporalidade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53275" y="4498627"/>
            <a:ext cx="4286250" cy="621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475569"/>
                </a:solidFill>
                <a:latin typeface="Arial"/>
              </a:rPr>
              <a:t>Rastreamento de transição de status em tempo real via </a:t>
            </a:r>
            <a:r>
              <a:rPr sz="1125" b="1" i="0" u="none">
                <a:solidFill>
                  <a:srgbClr val="475569"/>
                </a:solidFill>
                <a:latin typeface="Arial"/>
              </a:rPr>
              <a:t>historico_status_pedido</a:t>
            </a:r>
            <a:r>
              <a:rPr sz="1125" b="0" i="0" u="none">
                <a:solidFill>
                  <a:srgbClr val="475569"/>
                </a:solidFill>
                <a:latin typeface="Arial"/>
              </a:rPr>
              <a:t> e histórico de pagamentos parcelados ou múltiplos.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0600" y="3007965"/>
            <a:ext cx="2399109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2563EB"/>
                </a:solidFill>
                <a:latin typeface="Arial"/>
              </a:rPr>
              <a:t>pessoa</a:t>
            </a:r>
            <a:r>
              <a:rPr sz="1125" b="0" i="0" u="none">
                <a:solidFill>
                  <a:srgbClr val="334155"/>
                </a:solidFill>
                <a:latin typeface="Arial"/>
              </a:rPr>
              <a:t> (Especialização Total)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67882" y="3017490"/>
            <a:ext cx="1672083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Consolas"/>
              </a:rPr>
              <a:t>cliente | vendedor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0600" y="3493740"/>
            <a:ext cx="2610817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2563EB"/>
                </a:solidFill>
                <a:latin typeface="Arial"/>
              </a:rPr>
              <a:t>categoria</a:t>
            </a:r>
            <a:r>
              <a:rPr sz="1125" b="0" i="0" u="none">
                <a:solidFill>
                  <a:srgbClr val="334155"/>
                </a:solidFill>
                <a:latin typeface="Arial"/>
              </a:rPr>
              <a:t> (Autorrelacionamento)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67882" y="3503265"/>
            <a:ext cx="1672083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Consolas"/>
              </a:rPr>
              <a:t>(0,1) contém (0,n)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0600" y="3979515"/>
            <a:ext cx="2778621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2563EB"/>
                </a:solidFill>
                <a:latin typeface="Arial"/>
              </a:rPr>
              <a:t>fornecedor_produto</a:t>
            </a:r>
            <a:r>
              <a:rPr sz="1125" b="0" i="0" u="none">
                <a:solidFill>
                  <a:srgbClr val="334155"/>
                </a:solidFill>
                <a:latin typeface="Arial"/>
              </a:rPr>
              <a:t> (Associativa)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42296" y="3989040"/>
            <a:ext cx="1579066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Consolas"/>
              </a:rPr>
              <a:t>N:N com atributos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0600" y="4465290"/>
            <a:ext cx="2123963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2563EB"/>
                </a:solidFill>
                <a:latin typeface="Arial"/>
              </a:rPr>
              <a:t>item_pedido</a:t>
            </a:r>
            <a:r>
              <a:rPr sz="1125" b="0" i="0" u="none">
                <a:solidFill>
                  <a:srgbClr val="334155"/>
                </a:solidFill>
                <a:latin typeface="Arial"/>
              </a:rPr>
              <a:t> (Associativa)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67882" y="4474815"/>
            <a:ext cx="1672083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Consolas"/>
              </a:rPr>
              <a:t>(1,1) compõe (1,n)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0600" y="4951065"/>
            <a:ext cx="3444068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2563EB"/>
                </a:solidFill>
                <a:latin typeface="Arial"/>
              </a:rPr>
              <a:t>historico_status_pedido</a:t>
            </a:r>
            <a:r>
              <a:rPr sz="1125" b="0" i="0" u="none">
                <a:solidFill>
                  <a:srgbClr val="334155"/>
                </a:solidFill>
                <a:latin typeface="Arial"/>
              </a:rPr>
              <a:t> (Entidade Fraca)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19352" y="4960590"/>
            <a:ext cx="1857747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Consolas"/>
              </a:rPr>
              <a:t>(1,1) registra (1,n)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709469-8CDA-D8D6-59A4-9934420C5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53AEF8A-2C47-E854-8172-137F30702374}"/>
              </a:ext>
            </a:extLst>
          </p:cNvPr>
          <p:cNvSpPr/>
          <p:nvPr/>
        </p:nvSpPr>
        <p:spPr>
          <a:xfrm>
            <a:off x="0" y="0"/>
            <a:ext cx="12192000" cy="111055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4593BB9-FA52-2520-3D36-84DF3C9A2530}"/>
              </a:ext>
            </a:extLst>
          </p:cNvPr>
          <p:cNvSpPr/>
          <p:nvPr/>
        </p:nvSpPr>
        <p:spPr>
          <a:xfrm>
            <a:off x="0" y="1101030"/>
            <a:ext cx="1219200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1FE197E-0DB7-08BE-1E33-2D00AB8FFBC9}"/>
              </a:ext>
            </a:extLst>
          </p:cNvPr>
          <p:cNvSpPr txBox="1"/>
          <p:nvPr/>
        </p:nvSpPr>
        <p:spPr>
          <a:xfrm>
            <a:off x="609600" y="381000"/>
            <a:ext cx="115824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Arial"/>
              </a:rPr>
              <a:t>PARTE 2 • ARQUITETURA DE DADOS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AEE64B7-835E-850C-9EA1-5950F173DA40}"/>
              </a:ext>
            </a:extLst>
          </p:cNvPr>
          <p:cNvSpPr txBox="1"/>
          <p:nvPr/>
        </p:nvSpPr>
        <p:spPr>
          <a:xfrm>
            <a:off x="609600" y="590550"/>
            <a:ext cx="11582400" cy="319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2100" b="1" i="0" u="none">
                <a:solidFill>
                  <a:srgbClr val="0F172A"/>
                </a:solidFill>
                <a:latin typeface="Arial"/>
              </a:rPr>
              <a:t>Modelo Entidade-Relacionamento Conceitual (MER)</a:t>
            </a:r>
          </a:p>
        </p:txBody>
      </p:sp>
      <p:pic>
        <p:nvPicPr>
          <p:cNvPr id="30" name="Picture 29" descr="A diagram of a data flow&#10;&#10;AI-generated content may be incorrect.">
            <a:extLst>
              <a:ext uri="{FF2B5EF4-FFF2-40B4-BE49-F238E27FC236}">
                <a16:creationId xmlns:a16="http://schemas.microsoft.com/office/drawing/2014/main" id="{0EB67BDF-99B2-F77A-C0B0-1F5FF3631F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7538" y="1108363"/>
            <a:ext cx="5407028" cy="5749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79309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0100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91480"/>
            <a:ext cx="1219200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19125" y="2269777"/>
            <a:ext cx="171598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335113" y="2269777"/>
            <a:ext cx="187999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215110" y="2269777"/>
            <a:ext cx="33590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574160" y="2269777"/>
            <a:ext cx="399871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19125" y="2536477"/>
            <a:ext cx="1715988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335113" y="2536477"/>
            <a:ext cx="1879996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215110" y="2536477"/>
            <a:ext cx="335905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574160" y="2536477"/>
            <a:ext cx="3998714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9125" y="2803177"/>
            <a:ext cx="1715988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335113" y="2803177"/>
            <a:ext cx="1879996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15110" y="2803177"/>
            <a:ext cx="335905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574160" y="2803177"/>
            <a:ext cx="3998714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9125" y="3231802"/>
            <a:ext cx="1715988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335113" y="3231802"/>
            <a:ext cx="1879996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215110" y="3231802"/>
            <a:ext cx="335905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574160" y="3231802"/>
            <a:ext cx="3998714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9125" y="3660427"/>
            <a:ext cx="1715988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335113" y="3660427"/>
            <a:ext cx="1879996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215110" y="3660427"/>
            <a:ext cx="335905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574160" y="3660427"/>
            <a:ext cx="3998714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19125" y="3927127"/>
            <a:ext cx="1715988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335113" y="3927127"/>
            <a:ext cx="1879996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215110" y="3927127"/>
            <a:ext cx="335905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574160" y="3927127"/>
            <a:ext cx="3998714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19125" y="4193827"/>
            <a:ext cx="1715988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2335113" y="4193827"/>
            <a:ext cx="1879996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215110" y="4193827"/>
            <a:ext cx="335905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574160" y="4193827"/>
            <a:ext cx="3998714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19125" y="4460527"/>
            <a:ext cx="1715988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2335113" y="4460527"/>
            <a:ext cx="1879996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215110" y="4460527"/>
            <a:ext cx="335905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7574160" y="4460527"/>
            <a:ext cx="3998714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19125" y="4727227"/>
            <a:ext cx="1715988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2335113" y="4727227"/>
            <a:ext cx="1879996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215110" y="4727227"/>
            <a:ext cx="335905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7574160" y="4727227"/>
            <a:ext cx="3998714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619125" y="4993927"/>
            <a:ext cx="1715988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2335113" y="4993927"/>
            <a:ext cx="1879996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215110" y="4993927"/>
            <a:ext cx="335905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7574160" y="4993927"/>
            <a:ext cx="3998714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619125" y="5260627"/>
            <a:ext cx="1715988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2335113" y="5260627"/>
            <a:ext cx="1879996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4215110" y="5260627"/>
            <a:ext cx="335905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7574160" y="5260627"/>
            <a:ext cx="3998714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733425" y="2336452"/>
            <a:ext cx="819298" cy="171450"/>
          </a:xfrm>
          <a:prstGeom prst="roundRect">
            <a:avLst>
              <a:gd name="adj" fmla="val 22222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733425" y="2603152"/>
            <a:ext cx="965745" cy="171450"/>
          </a:xfrm>
          <a:prstGeom prst="roundRect">
            <a:avLst>
              <a:gd name="adj" fmla="val 22222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733425" y="2950815"/>
            <a:ext cx="965745" cy="171450"/>
          </a:xfrm>
          <a:prstGeom prst="roundRect">
            <a:avLst>
              <a:gd name="adj" fmla="val 22222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733425" y="3379440"/>
            <a:ext cx="438150" cy="171450"/>
          </a:xfrm>
          <a:prstGeom prst="roundRect">
            <a:avLst>
              <a:gd name="adj" fmla="val 22222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733425" y="3727102"/>
            <a:ext cx="438150" cy="171450"/>
          </a:xfrm>
          <a:prstGeom prst="roundRect">
            <a:avLst>
              <a:gd name="adj" fmla="val 22222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733425" y="3993802"/>
            <a:ext cx="438150" cy="171450"/>
          </a:xfrm>
          <a:prstGeom prst="roundRect">
            <a:avLst>
              <a:gd name="adj" fmla="val 22222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733425" y="4260502"/>
            <a:ext cx="787747" cy="171450"/>
          </a:xfrm>
          <a:prstGeom prst="roundRect">
            <a:avLst>
              <a:gd name="adj" fmla="val 22222"/>
            </a:avLst>
          </a:prstGeom>
          <a:solidFill>
            <a:srgbClr val="F3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ounded Rectangle 54"/>
          <p:cNvSpPr/>
          <p:nvPr/>
        </p:nvSpPr>
        <p:spPr>
          <a:xfrm>
            <a:off x="733425" y="4527202"/>
            <a:ext cx="438150" cy="171450"/>
          </a:xfrm>
          <a:prstGeom prst="roundRect">
            <a:avLst>
              <a:gd name="adj" fmla="val 22222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733425" y="4793902"/>
            <a:ext cx="787747" cy="171450"/>
          </a:xfrm>
          <a:prstGeom prst="roundRect">
            <a:avLst>
              <a:gd name="adj" fmla="val 22222"/>
            </a:avLst>
          </a:prstGeom>
          <a:solidFill>
            <a:srgbClr val="F3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733425" y="5060602"/>
            <a:ext cx="457497" cy="171450"/>
          </a:xfrm>
          <a:prstGeom prst="roundRect">
            <a:avLst>
              <a:gd name="adj" fmla="val 22222"/>
            </a:avLst>
          </a:prstGeom>
          <a:solidFill>
            <a:srgbClr val="FFE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ounded Rectangle 57"/>
          <p:cNvSpPr/>
          <p:nvPr/>
        </p:nvSpPr>
        <p:spPr>
          <a:xfrm>
            <a:off x="733425" y="5408265"/>
            <a:ext cx="457497" cy="171450"/>
          </a:xfrm>
          <a:prstGeom prst="roundRect">
            <a:avLst>
              <a:gd name="adj" fmla="val 22222"/>
            </a:avLst>
          </a:prstGeom>
          <a:solidFill>
            <a:srgbClr val="FFE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9" name="Table 58"/>
          <p:cNvGraphicFramePr>
            <a:graphicFrameLocks noGrp="1"/>
          </p:cNvGraphicFramePr>
          <p:nvPr/>
        </p:nvGraphicFramePr>
        <p:xfrm>
          <a:off x="609600" y="1945927"/>
          <a:ext cx="10953748" cy="4026217"/>
        </p:xfrm>
        <a:graphic>
          <a:graphicData uri="http://schemas.openxmlformats.org/drawingml/2006/table">
            <a:tbl>
              <a:tblPr/>
              <a:tblGrid>
                <a:gridCol w="17159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99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59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987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2737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F172A"/>
                          </a:solidFill>
                          <a:latin typeface="Arial"/>
                        </a:rPr>
                        <a:t>Classificação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F172A"/>
                          </a:solidFill>
                          <a:latin typeface="Arial"/>
                        </a:rPr>
                        <a:t>Entidade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F172A"/>
                          </a:solidFill>
                          <a:latin typeface="Arial"/>
                        </a:rPr>
                        <a:t>Atributos Chave / Domínios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F172A"/>
                          </a:solidFill>
                          <a:latin typeface="Arial"/>
                        </a:rPr>
                        <a:t>Restrições de Integridade &amp; Regras de Negócio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737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Arial"/>
                        </a:rPr>
                        <a:t>pessoa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Arial"/>
                        </a:rPr>
                        <a:t>id_pessoa (PK), cpf, email, nome, ativo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Arial"/>
                        </a:rPr>
                        <a:t>CPF e Email com </a:t>
                      </a:r>
                      <a:r>
                        <a:rPr sz="1125" b="1" i="0" u="none">
                          <a:solidFill>
                            <a:srgbClr val="334155"/>
                          </a:solidFill>
                          <a:latin typeface="Arial"/>
                        </a:rPr>
                        <a:t>UNIQUE (UQ)</a:t>
                      </a:r>
                      <a:r>
                        <a:rPr sz="1125" b="0" i="0" u="none">
                          <a:solidFill>
                            <a:srgbClr val="334155"/>
                          </a:solidFill>
                          <a:latin typeface="Arial"/>
                        </a:rPr>
                        <a:t>; Centraliza dados gerais.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2737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Arial"/>
                        </a:rPr>
                        <a:t>cliente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Arial"/>
                        </a:rPr>
                        <a:t>id_pessoa (PK/FK), data_cadastro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Arial"/>
                        </a:rPr>
                        <a:t>Herança total de pessoa; Data gerada automaticamente.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2737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Arial"/>
                        </a:rPr>
                        <a:t>vendedor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Arial"/>
                        </a:rPr>
                        <a:t>id_pessoa (PK/FK), login, senha_hash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Arial"/>
                        </a:rPr>
                        <a:t>Login </a:t>
                      </a:r>
                      <a:r>
                        <a:rPr sz="1125" b="1" i="0" u="none">
                          <a:solidFill>
                            <a:srgbClr val="334155"/>
                          </a:solidFill>
                          <a:latin typeface="Arial"/>
                        </a:rPr>
                        <a:t>UNIQUE (UQ)</a:t>
                      </a:r>
                      <a:r>
                        <a:rPr sz="1125" b="0" i="0" u="none">
                          <a:solidFill>
                            <a:srgbClr val="334155"/>
                          </a:solidFill>
                          <a:latin typeface="Arial"/>
                        </a:rPr>
                        <a:t>; Senha com hash criptográfico seguro.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2737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Arial"/>
                        </a:rPr>
                        <a:t>categoria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Arial"/>
                        </a:rPr>
                        <a:t>id_categoria (PK), nome, id_categoria_pai (FK)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Arial"/>
                        </a:rPr>
                        <a:t>Autorrelacionamento</a:t>
                      </a:r>
                      <a:r>
                        <a:rPr sz="1125" b="0" i="0" u="none">
                          <a:solidFill>
                            <a:srgbClr val="334155"/>
                          </a:solidFill>
                          <a:latin typeface="Arial"/>
                        </a:rPr>
                        <a:t> (0,1) : (0,n) para categorias e subcategorias.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2737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Arial"/>
                        </a:rPr>
                        <a:t>produto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Arial"/>
                        </a:rPr>
                        <a:t>id_produto (PK), preco_unitario, estoque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Arial"/>
                        </a:rPr>
                        <a:t>CHECK</a:t>
                      </a:r>
                      <a:r>
                        <a:rPr sz="1125" b="0" i="0" u="none">
                          <a:solidFill>
                            <a:srgbClr val="334155"/>
                          </a:solidFill>
                          <a:latin typeface="Arial"/>
                        </a:rPr>
                        <a:t> (preco_unitario &gt; 0.00); </a:t>
                      </a:r>
                      <a:r>
                        <a:rPr sz="1125" b="1" i="0" u="none">
                          <a:solidFill>
                            <a:srgbClr val="334155"/>
                          </a:solidFill>
                          <a:latin typeface="Arial"/>
                        </a:rPr>
                        <a:t>CHECK</a:t>
                      </a:r>
                      <a:r>
                        <a:rPr sz="1125" b="0" i="0" u="none">
                          <a:solidFill>
                            <a:srgbClr val="334155"/>
                          </a:solidFill>
                          <a:latin typeface="Arial"/>
                        </a:rPr>
                        <a:t> (estoque &gt;= 0).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2737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Arial"/>
                        </a:rPr>
                        <a:t>fornecedor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Arial"/>
                        </a:rPr>
                        <a:t>id_fornecedor (PK), cnpj, razao_social, email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Arial"/>
                        </a:rPr>
                        <a:t>CNPJ e Email configurados com </a:t>
                      </a:r>
                      <a:r>
                        <a:rPr sz="1125" b="1" i="0" u="none">
                          <a:solidFill>
                            <a:srgbClr val="334155"/>
                          </a:solidFill>
                          <a:latin typeface="Arial"/>
                        </a:rPr>
                        <a:t>UNIQUE (UQ)</a:t>
                      </a:r>
                      <a:r>
                        <a:rPr sz="1125" b="0" i="0" u="none">
                          <a:solidFill>
                            <a:srgbClr val="334155"/>
                          </a:solidFill>
                          <a:latin typeface="Arial"/>
                        </a:rPr>
                        <a:t>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2737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Arial"/>
                        </a:rPr>
                        <a:t>fornecedor_produto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Arial"/>
                        </a:rPr>
                        <a:t>(id_fornecedor, id_produto) [PK/FK], preco_custo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Arial"/>
                        </a:rPr>
                        <a:t>Mapeia suprimento N:N; Armazena prazo e preço de custo.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2737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Arial"/>
                        </a:rPr>
                        <a:t>pedido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Arial"/>
                        </a:rPr>
                        <a:t>id_pedido (PK), id_cliente (FK), id_vendedor (FK)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Arial"/>
                        </a:rPr>
                        <a:t>Vínculo com cliente e vendedor; Valor total calculated.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2737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Arial"/>
                        </a:rPr>
                        <a:t>item_pedido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Arial"/>
                        </a:rPr>
                        <a:t>(id_pedido, id_produto) [PK/FK], preco_unitario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Arial"/>
                        </a:rPr>
                        <a:t>Congelamento histórico</a:t>
                      </a:r>
                      <a:r>
                        <a:rPr sz="1125" b="0" i="0" u="none">
                          <a:solidFill>
                            <a:srgbClr val="334155"/>
                          </a:solidFill>
                          <a:latin typeface="Arial"/>
                        </a:rPr>
                        <a:t> do preço praticado na venda.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2737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Arial"/>
                        </a:rPr>
                        <a:t>historico_status_pedido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Arial"/>
                        </a:rPr>
                        <a:t>(id_pedido [FK], data_alteracao) [PK], status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Arial"/>
                        </a:rPr>
                        <a:t>Dependente de pedido; </a:t>
                      </a:r>
                      <a:r>
                        <a:rPr sz="1125" b="1" i="0" u="none">
                          <a:solidFill>
                            <a:srgbClr val="334155"/>
                          </a:solidFill>
                          <a:latin typeface="Arial"/>
                        </a:rPr>
                        <a:t>Auditoria temporal</a:t>
                      </a:r>
                      <a:r>
                        <a:rPr sz="1125" b="0" i="0" u="none">
                          <a:solidFill>
                            <a:srgbClr val="334155"/>
                          </a:solidFill>
                          <a:latin typeface="Arial"/>
                        </a:rPr>
                        <a:t> de transições.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2743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Arial"/>
                        </a:rPr>
                        <a:t>pagamento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Arial"/>
                        </a:rPr>
                        <a:t>id_pagamento (PK), id_pedido (FK), forma, valor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Arial"/>
                        </a:rPr>
                        <a:t>CHECK</a:t>
                      </a:r>
                      <a:r>
                        <a:rPr sz="1125" b="0" i="0" u="none">
                          <a:solidFill>
                            <a:srgbClr val="334155"/>
                          </a:solidFill>
                          <a:latin typeface="Arial"/>
                        </a:rPr>
                        <a:t> (DINHEIRO, CARTAO, PIX, BOLETO); Quitação parcelada.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60" name="TextBox 59"/>
          <p:cNvSpPr txBox="1"/>
          <p:nvPr/>
        </p:nvSpPr>
        <p:spPr>
          <a:xfrm>
            <a:off x="609600" y="228600"/>
            <a:ext cx="115824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Arial"/>
              </a:rPr>
              <a:t>PARTE 3 • ESPECIFICAÇÃO TÉCNICA DE DADOS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09600" y="438150"/>
            <a:ext cx="11582400" cy="319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2100" b="1" i="0" u="none">
                <a:solidFill>
                  <a:srgbClr val="0F172A"/>
                </a:solidFill>
                <a:latin typeface="Arial"/>
              </a:rPr>
              <a:t>Dicionário de Dados Conceitual (Visão Completa)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09625" y="2355502"/>
            <a:ext cx="762148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369A1"/>
                </a:solidFill>
                <a:latin typeface="Arial"/>
              </a:rPr>
              <a:t>Forte (Base)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09625" y="2622202"/>
            <a:ext cx="90859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92400E"/>
                </a:solidFill>
                <a:latin typeface="Arial"/>
              </a:rPr>
              <a:t>Especialização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09625" y="2969865"/>
            <a:ext cx="90859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92400E"/>
                </a:solidFill>
                <a:latin typeface="Arial"/>
              </a:rPr>
              <a:t>Especialização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09625" y="3398490"/>
            <a:ext cx="3810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369A1"/>
                </a:solidFill>
                <a:latin typeface="Arial"/>
              </a:rPr>
              <a:t>Forte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09625" y="3746152"/>
            <a:ext cx="3810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369A1"/>
                </a:solidFill>
                <a:latin typeface="Arial"/>
              </a:rPr>
              <a:t>Forte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09625" y="4012852"/>
            <a:ext cx="3810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369A1"/>
                </a:solidFill>
                <a:latin typeface="Arial"/>
              </a:rPr>
              <a:t>Forte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09625" y="4279552"/>
            <a:ext cx="730597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B21A8"/>
                </a:solidFill>
                <a:latin typeface="Arial"/>
              </a:rPr>
              <a:t>Associativa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09625" y="4546252"/>
            <a:ext cx="3810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369A1"/>
                </a:solidFill>
                <a:latin typeface="Arial"/>
              </a:rPr>
              <a:t>Forte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09625" y="4812952"/>
            <a:ext cx="730597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B21A8"/>
                </a:solidFill>
                <a:latin typeface="Arial"/>
              </a:rPr>
              <a:t>Associativa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09625" y="5079652"/>
            <a:ext cx="400347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9F1239"/>
                </a:solidFill>
                <a:latin typeface="Arial"/>
              </a:rPr>
              <a:t>Fraca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9625" y="5427315"/>
            <a:ext cx="400347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9F1239"/>
                </a:solidFill>
                <a:latin typeface="Arial"/>
              </a:rPr>
              <a:t>Fraca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11055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01030"/>
            <a:ext cx="1219200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2381994"/>
            <a:ext cx="10972800" cy="1535310"/>
          </a:xfrm>
          <a:prstGeom prst="roundRect">
            <a:avLst>
              <a:gd name="adj" fmla="val 6203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4107805"/>
            <a:ext cx="3530649" cy="1326356"/>
          </a:xfrm>
          <a:prstGeom prst="roundRect">
            <a:avLst>
              <a:gd name="adj" fmla="val 86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330749" y="4107805"/>
            <a:ext cx="3530649" cy="1326356"/>
          </a:xfrm>
          <a:prstGeom prst="roundRect">
            <a:avLst>
              <a:gd name="adj" fmla="val 86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051899" y="4107805"/>
            <a:ext cx="3530649" cy="1326356"/>
          </a:xfrm>
          <a:prstGeom prst="roundRect">
            <a:avLst>
              <a:gd name="adj" fmla="val 86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9600" y="381000"/>
            <a:ext cx="115824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Arial"/>
              </a:rPr>
              <a:t>PARTE 4 • MAPEAMENTO LÓGICO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590550"/>
            <a:ext cx="11582400" cy="319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2100" b="1" i="0" u="none">
                <a:solidFill>
                  <a:srgbClr val="0F172A"/>
                </a:solidFill>
                <a:latin typeface="Arial"/>
              </a:rPr>
              <a:t>Modelo Lógico Relacional &amp; Decisões de Projeto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2572494"/>
            <a:ext cx="11353800" cy="182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sz="900" b="0" i="0" u="none">
                <a:solidFill>
                  <a:srgbClr val="94A3B8"/>
                </a:solidFill>
                <a:latin typeface="Consolas"/>
              </a:rPr>
              <a:t>// ESQUEMA RELACIONAL DERIVADO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2812405"/>
            <a:ext cx="113538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1" i="0" u="none">
                <a:solidFill>
                  <a:srgbClr val="F8FAFC"/>
                </a:solidFill>
                <a:latin typeface="Consolas"/>
              </a:rPr>
              <a:t>pessoa</a:t>
            </a:r>
            <a:r>
              <a:rPr sz="1125" b="0" i="0" u="none">
                <a:solidFill>
                  <a:srgbClr val="38BDF8"/>
                </a:solidFill>
                <a:latin typeface="Consolas"/>
              </a:rPr>
              <a:t> (</a:t>
            </a:r>
            <a:r>
              <a:rPr sz="1125" b="0" i="0" u="sng">
                <a:solidFill>
                  <a:srgbClr val="38BDF8"/>
                </a:solidFill>
                <a:latin typeface="Consolas"/>
              </a:rPr>
              <a:t>id_pessoa [PK]</a:t>
            </a:r>
            <a:r>
              <a:rPr sz="1125" b="0" i="0" u="none">
                <a:solidFill>
                  <a:srgbClr val="38BDF8"/>
                </a:solidFill>
                <a:latin typeface="Consolas"/>
              </a:rPr>
              <a:t>, nome, cpf [UQ], email [UQ], telefone, ativo)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3041005"/>
            <a:ext cx="113538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1" i="0" u="none">
                <a:solidFill>
                  <a:srgbClr val="F8FAFC"/>
                </a:solidFill>
                <a:latin typeface="Consolas"/>
              </a:rPr>
              <a:t>vendedor</a:t>
            </a:r>
            <a:r>
              <a:rPr sz="1125" b="0" i="0" u="none">
                <a:solidFill>
                  <a:srgbClr val="38BDF8"/>
                </a:solidFill>
                <a:latin typeface="Consolas"/>
              </a:rPr>
              <a:t> (</a:t>
            </a:r>
            <a:r>
              <a:rPr sz="1125" b="0" i="0" u="sng">
                <a:solidFill>
                  <a:srgbClr val="38BDF8"/>
                </a:solidFill>
                <a:latin typeface="Consolas"/>
              </a:rPr>
              <a:t>id_pessoa [PK, FK]</a:t>
            </a:r>
            <a:r>
              <a:rPr sz="1125" b="0" i="0" u="none">
                <a:solidFill>
                  <a:srgbClr val="38BDF8"/>
                </a:solidFill>
                <a:latin typeface="Consolas"/>
              </a:rPr>
              <a:t>, login [UQ], senha_hash)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3269605"/>
            <a:ext cx="113538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1" i="0" u="none">
                <a:solidFill>
                  <a:srgbClr val="F8FAFC"/>
                </a:solidFill>
                <a:latin typeface="Consolas"/>
              </a:rPr>
              <a:t>pedido</a:t>
            </a:r>
            <a:r>
              <a:rPr sz="1125" b="0" i="0" u="none">
                <a:solidFill>
                  <a:srgbClr val="38BDF8"/>
                </a:solidFill>
                <a:latin typeface="Consolas"/>
              </a:rPr>
              <a:t> (</a:t>
            </a:r>
            <a:r>
              <a:rPr sz="1125" b="0" i="0" u="sng">
                <a:solidFill>
                  <a:srgbClr val="38BDF8"/>
                </a:solidFill>
                <a:latin typeface="Consolas"/>
              </a:rPr>
              <a:t>id_pedido [PK]</a:t>
            </a:r>
            <a:r>
              <a:rPr sz="1125" b="0" i="0" u="none">
                <a:solidFill>
                  <a:srgbClr val="38BDF8"/>
                </a:solidFill>
                <a:latin typeface="Consolas"/>
              </a:rPr>
              <a:t>, id_cliente [FK], id_vendedor [FK], data_emissao, valor_total)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3498205"/>
            <a:ext cx="113538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1" i="0" u="none">
                <a:solidFill>
                  <a:srgbClr val="F8FAFC"/>
                </a:solidFill>
                <a:latin typeface="Consolas"/>
              </a:rPr>
              <a:t>item_pedido</a:t>
            </a:r>
            <a:r>
              <a:rPr sz="1125" b="0" i="0" u="none">
                <a:solidFill>
                  <a:srgbClr val="38BDF8"/>
                </a:solidFill>
                <a:latin typeface="Consolas"/>
              </a:rPr>
              <a:t> (</a:t>
            </a:r>
            <a:r>
              <a:rPr sz="1125" b="0" i="0" u="sng">
                <a:solidFill>
                  <a:srgbClr val="38BDF8"/>
                </a:solidFill>
                <a:latin typeface="Consolas"/>
              </a:rPr>
              <a:t>id_pedido [PK, FK], id_produto [PK, FK]</a:t>
            </a:r>
            <a:r>
              <a:rPr sz="1125" b="0" i="0" u="none">
                <a:solidFill>
                  <a:srgbClr val="38BDF8"/>
                </a:solidFill>
                <a:latin typeface="Consolas"/>
              </a:rPr>
              <a:t>, quantidade, preco_unitario, subtotal)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725" y="4345930"/>
            <a:ext cx="4008899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2563EB"/>
                </a:solidFill>
                <a:latin typeface="Arial"/>
              </a:rPr>
              <a:t>Estratégia Tabela por Classe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725" y="4574530"/>
            <a:ext cx="3149649" cy="621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475569"/>
                </a:solidFill>
                <a:latin typeface="Arial"/>
              </a:rPr>
              <a:t>Evita valores nulos obrigatórios em dados sensíveis de acesso mantendo tabela pai e tabelas filhas especializadas.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8874" y="4345930"/>
            <a:ext cx="4008899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2563EB"/>
                </a:solidFill>
                <a:latin typeface="Arial"/>
              </a:rPr>
              <a:t>Chaves Substitutas Numéricas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8874" y="4574530"/>
            <a:ext cx="3149649" cy="621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475569"/>
                </a:solidFill>
                <a:latin typeface="Arial"/>
              </a:rPr>
              <a:t>Uso de AUTO_INCREMENT para otimização de junções JOIN em memória RAM, isolando alterações de CPF/CNPJ.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0024" y="4345930"/>
            <a:ext cx="39019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2563EB"/>
                </a:solidFill>
                <a:latin typeface="Arial"/>
              </a:rPr>
              <a:t>Preservação do Histórico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0024" y="4574530"/>
            <a:ext cx="3149649" cy="621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475569"/>
                </a:solidFill>
                <a:latin typeface="Arial"/>
              </a:rPr>
              <a:t>Atributo preco_unitario congelado na tabela associativa para evitar alteração retroativa no faturamento.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781AEF-DB8C-5406-55F3-A089C89233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86787BD-685E-4762-C12B-ADDD60D0F769}"/>
              </a:ext>
            </a:extLst>
          </p:cNvPr>
          <p:cNvSpPr/>
          <p:nvPr/>
        </p:nvSpPr>
        <p:spPr>
          <a:xfrm>
            <a:off x="0" y="0"/>
            <a:ext cx="12192000" cy="111055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8278206-FDC0-EE86-BE00-04B7BFB7B70F}"/>
              </a:ext>
            </a:extLst>
          </p:cNvPr>
          <p:cNvSpPr/>
          <p:nvPr/>
        </p:nvSpPr>
        <p:spPr>
          <a:xfrm>
            <a:off x="0" y="1101030"/>
            <a:ext cx="1219200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BC3114-12B3-ADDC-D6C5-AD4D0036536A}"/>
              </a:ext>
            </a:extLst>
          </p:cNvPr>
          <p:cNvSpPr txBox="1"/>
          <p:nvPr/>
        </p:nvSpPr>
        <p:spPr>
          <a:xfrm>
            <a:off x="609600" y="381000"/>
            <a:ext cx="115824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Arial"/>
              </a:rPr>
              <a:t>PARTE 4 • MAPEAMENTO LÓGICO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D15E47-42B0-C436-D55D-C72014A5A82C}"/>
              </a:ext>
            </a:extLst>
          </p:cNvPr>
          <p:cNvSpPr txBox="1"/>
          <p:nvPr/>
        </p:nvSpPr>
        <p:spPr>
          <a:xfrm>
            <a:off x="609600" y="590550"/>
            <a:ext cx="11582400" cy="319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2100" b="1" i="0" u="none">
                <a:solidFill>
                  <a:srgbClr val="0F172A"/>
                </a:solidFill>
                <a:latin typeface="Arial"/>
              </a:rPr>
              <a:t>Modelo Lógico Relacional &amp; Decisões de Projeto</a:t>
            </a:r>
          </a:p>
        </p:txBody>
      </p:sp>
      <p:pic>
        <p:nvPicPr>
          <p:cNvPr id="21" name="Picture 20" descr="A computer screen shot of a diagram&#10;&#10;AI-generated content may be incorrect.">
            <a:extLst>
              <a:ext uri="{FF2B5EF4-FFF2-40B4-BE49-F238E27FC236}">
                <a16:creationId xmlns:a16="http://schemas.microsoft.com/office/drawing/2014/main" id="{E8501550-5845-B471-6B7E-5FC86F32D7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1634" y="910441"/>
            <a:ext cx="8878629" cy="5947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08017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11055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01030"/>
            <a:ext cx="1219200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2229742"/>
            <a:ext cx="5381625" cy="1308645"/>
          </a:xfrm>
          <a:prstGeom prst="roundRect">
            <a:avLst>
              <a:gd name="adj" fmla="val 873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219825" y="2221259"/>
            <a:ext cx="5362575" cy="1325612"/>
          </a:xfrm>
          <a:prstGeom prst="roundRect">
            <a:avLst>
              <a:gd name="adj" fmla="val 8622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19125" y="4213621"/>
            <a:ext cx="413355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752677" y="4213621"/>
            <a:ext cx="244926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201941" y="4213621"/>
            <a:ext cx="235609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558039" y="4213621"/>
            <a:ext cx="201483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9125" y="4670821"/>
            <a:ext cx="4133552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752677" y="4670821"/>
            <a:ext cx="2449264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201941" y="4670821"/>
            <a:ext cx="2356098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9558039" y="4670821"/>
            <a:ext cx="2014835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9125" y="5128021"/>
            <a:ext cx="4133552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752677" y="5128021"/>
            <a:ext cx="2449264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201941" y="5128021"/>
            <a:ext cx="2356098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558039" y="5128021"/>
            <a:ext cx="2014835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748539" y="4337446"/>
            <a:ext cx="768399" cy="219075"/>
          </a:xfrm>
          <a:prstGeom prst="roundRect">
            <a:avLst>
              <a:gd name="adj" fmla="val 26086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9748539" y="4794646"/>
            <a:ext cx="768399" cy="219075"/>
          </a:xfrm>
          <a:prstGeom prst="roundRect">
            <a:avLst>
              <a:gd name="adj" fmla="val 26086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9748539" y="5251846"/>
            <a:ext cx="768399" cy="219075"/>
          </a:xfrm>
          <a:prstGeom prst="roundRect">
            <a:avLst>
              <a:gd name="adj" fmla="val 26086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8897" y="2707034"/>
            <a:ext cx="2104429" cy="573137"/>
          </a:xfrm>
          <a:prstGeom prst="rect">
            <a:avLst/>
          </a:prstGeom>
        </p:spPr>
      </p:pic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09600" y="3775471"/>
          <a:ext cx="10953749" cy="1819275"/>
        </p:xfrm>
        <a:graphic>
          <a:graphicData uri="http://schemas.openxmlformats.org/drawingml/2006/table">
            <a:tbl>
              <a:tblPr/>
              <a:tblGrid>
                <a:gridCol w="41335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92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560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48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4818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F172A"/>
                          </a:solidFill>
                          <a:latin typeface="Arial"/>
                        </a:rPr>
                        <a:t>Indicador de Desempenho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F172A"/>
                          </a:solidFill>
                          <a:latin typeface="Arial"/>
                        </a:rPr>
                        <a:t>Meta Projetada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F172A"/>
                          </a:solidFill>
                          <a:latin typeface="Arial"/>
                        </a:rPr>
                        <a:t>Valor Atingido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F172A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4818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Arial"/>
                        </a:rPr>
                        <a:t>Eficiência de Processamento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Arial"/>
                        </a:rPr>
                        <a:t>≥ 90.0%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Arial"/>
                        </a:rPr>
                        <a:t>93.5%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4818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Arial"/>
                        </a:rPr>
                        <a:t>Tempo Médio de Resposta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Arial"/>
                        </a:rPr>
                        <a:t>&lt; 250 ms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Arial"/>
                        </a:rPr>
                        <a:t>210 ms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4821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Arial"/>
                        </a:rPr>
                        <a:t>Taxa de Sucesso em Carga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Arial"/>
                        </a:rPr>
                        <a:t>99.0%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Arial"/>
                        </a:rPr>
                        <a:t>99.4%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609600" y="381000"/>
            <a:ext cx="115824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Arial"/>
              </a:rPr>
              <a:t>PARTE 5 • VALIDAÇÃO TÉCNICA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590550"/>
            <a:ext cx="11582400" cy="319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2100" b="1" i="0" u="none">
                <a:solidFill>
                  <a:srgbClr val="0F172A"/>
                </a:solidFill>
                <a:latin typeface="Arial"/>
              </a:rPr>
              <a:t>Verificação de Normalização &amp; Resultados Obtidos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9625" y="2429767"/>
            <a:ext cx="6226968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Arial"/>
              </a:rPr>
              <a:t>Conformidade com Formas Normais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87628" y="2411759"/>
            <a:ext cx="6226968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38BDF8"/>
                </a:solidFill>
                <a:latin typeface="Arial"/>
              </a:rPr>
              <a:t>FÓRMULA GERAL DE AVALIAÇÃO DE DESVIO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625" y="2658367"/>
            <a:ext cx="6226968" cy="2266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785"/>
              </a:lnSpc>
            </a:pPr>
            <a:r>
              <a:rPr sz="1050" b="1" i="0" u="none">
                <a:solidFill>
                  <a:srgbClr val="2563EB"/>
                </a:solidFill>
                <a:latin typeface="Arial"/>
              </a:rPr>
              <a:t>1FN:</a:t>
            </a:r>
            <a:r>
              <a:rPr sz="1050" b="0" i="0" u="none">
                <a:solidFill>
                  <a:srgbClr val="334155"/>
                </a:solidFill>
                <a:latin typeface="Arial"/>
              </a:rPr>
              <a:t> Atributos atômicos sem grupos repetitivos.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9625" y="2885033"/>
            <a:ext cx="6226968" cy="2266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785"/>
              </a:lnSpc>
            </a:pPr>
            <a:r>
              <a:rPr sz="1050" b="1" i="0" u="none">
                <a:solidFill>
                  <a:srgbClr val="2563EB"/>
                </a:solidFill>
                <a:latin typeface="Arial"/>
              </a:rPr>
              <a:t>2FN:</a:t>
            </a:r>
            <a:r>
              <a:rPr sz="1050" b="0" i="0" u="none">
                <a:solidFill>
                  <a:srgbClr val="334155"/>
                </a:solidFill>
                <a:latin typeface="Arial"/>
              </a:rPr>
              <a:t> Dependência funcional total da chave primária.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9625" y="3111698"/>
            <a:ext cx="6226968" cy="2266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785"/>
              </a:lnSpc>
            </a:pPr>
            <a:r>
              <a:rPr sz="1050" b="1" i="0" u="none">
                <a:solidFill>
                  <a:srgbClr val="2563EB"/>
                </a:solidFill>
                <a:latin typeface="Arial"/>
              </a:rPr>
              <a:t>3FN &amp; BCNF:</a:t>
            </a:r>
            <a:r>
              <a:rPr sz="1050" b="0" i="0" u="none">
                <a:solidFill>
                  <a:srgbClr val="334155"/>
                </a:solidFill>
                <a:latin typeface="Arial"/>
              </a:rPr>
              <a:t> Eliminação total de dependências transitivas.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43789" y="4375546"/>
            <a:ext cx="673149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66534"/>
                </a:solidFill>
                <a:latin typeface="Arial"/>
              </a:rPr>
              <a:t>Aprovado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43789" y="4832746"/>
            <a:ext cx="673149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66534"/>
                </a:solidFill>
                <a:latin typeface="Arial"/>
              </a:rPr>
              <a:t>Aprovado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43789" y="5289946"/>
            <a:ext cx="673149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66534"/>
                </a:solidFill>
                <a:latin typeface="Arial"/>
              </a:rPr>
              <a:t>Aprovado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55741" y="4343400"/>
            <a:ext cx="1280517" cy="419100"/>
          </a:xfrm>
          <a:prstGeom prst="roundRect">
            <a:avLst>
              <a:gd name="adj" fmla="val 18181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250" y="2095500"/>
            <a:ext cx="571500" cy="571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5987" y="2266950"/>
            <a:ext cx="200025" cy="228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84043" y="2895600"/>
            <a:ext cx="10423763" cy="476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300" b="1" i="0" u="none">
                <a:solidFill>
                  <a:srgbClr val="FFFFFF"/>
                </a:solidFill>
                <a:latin typeface="Arial"/>
              </a:rPr>
              <a:t>Sistema Gerenciador de Loja Finalizado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3524250"/>
            <a:ext cx="76200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>
                <a:solidFill>
                  <a:srgbClr val="94A3B8"/>
                </a:solidFill>
                <a:latin typeface="Arial"/>
              </a:rPr>
              <a:t>O SGL atende a todos os requisitos operacionais, de integridade e desempenho estipulados para a aprovação no curso de Laboratório de Banco de Dados.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62376" y="4457700"/>
            <a:ext cx="1067246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38BDF8"/>
                </a:solidFill>
                <a:latin typeface="Arial"/>
              </a:rPr>
              <a:t>Obrigado!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987</Words>
  <Application>Microsoft Office PowerPoint</Application>
  <PresentationFormat>Widescreen</PresentationFormat>
  <Paragraphs>135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3" baseType="lpstr">
      <vt:lpstr>Arial</vt:lpstr>
      <vt:lpstr>Calibri</vt:lpstr>
      <vt:lpstr>Consolas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Jhony Moraes da Silva</dc:creator>
  <cp:keywords/>
  <dc:description>generated using python-pptx</dc:description>
  <cp:lastModifiedBy>JHONY MORAES DA SILVA</cp:lastModifiedBy>
  <cp:revision>20</cp:revision>
  <dcterms:created xsi:type="dcterms:W3CDTF">2013-01-27T09:14:16Z</dcterms:created>
  <dcterms:modified xsi:type="dcterms:W3CDTF">2026-09-29T00:12:47Z</dcterms:modified>
  <cp:category/>
</cp:coreProperties>
</file>