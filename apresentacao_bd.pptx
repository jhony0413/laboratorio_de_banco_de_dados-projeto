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7559675" cy="106918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theme" Target="theme/theme1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viewProps" Target="viewProps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presProps" Target="presProps.xml" /><Relationship Id="rId5" Type="http://schemas.openxmlformats.org/officeDocument/2006/relationships/slide" Target="slides/slide4.xml" /><Relationship Id="rId10" Type="http://schemas.openxmlformats.org/officeDocument/2006/relationships/slide" Target="slides/slide9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6161222-1DFD-4411-9FA6-B51A35794F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5211857-0E18-4383-BFE9-D789DDC543B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1DCC774-C39D-471E-BD9C-FE404EC559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EDAA15-8DE8-4B6F-8AAA-C5BA02A9BB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4AFC0F-8B86-43D8-9981-885144E569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91C453-6766-47B6-8650-F12E142A12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9C8D7F9-F4CA-4274-BE6B-C44F5D194C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9F75353-6C7D-42FD-AC14-4FC7BD02CE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49DE28-3838-4D51-A1F4-E32D0EAC2D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do título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D26CF31-5FDC-452C-8232-0B51C00BF86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DD3328-A848-4C31-8D6E-779AF9FBC3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 /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9.xml" /><Relationship Id="rId4" Type="http://schemas.openxmlformats.org/officeDocument/2006/relationships/image" Target="../media/image3.png" 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 /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9.xml" /><Relationship Id="rId5" Type="http://schemas.openxmlformats.org/officeDocument/2006/relationships/image" Target="../media/image7.png" /><Relationship Id="rId4" Type="http://schemas.openxmlformats.org/officeDocument/2006/relationships/image" Target="../media/image6.png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 /><Relationship Id="rId1" Type="http://schemas.openxmlformats.org/officeDocument/2006/relationships/slideLayout" Target="../slideLayouts/slideLayout9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 /><Relationship Id="rId1" Type="http://schemas.openxmlformats.org/officeDocument/2006/relationships/slideLayout" Target="../slideLayouts/slideLayout9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 /><Relationship Id="rId1" Type="http://schemas.openxmlformats.org/officeDocument/2006/relationships/slideLayout" Target="../slideLayouts/slideLayout9.xml" 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 /><Relationship Id="rId2" Type="http://schemas.openxmlformats.org/officeDocument/2006/relationships/image" Target="../media/image11.png" /><Relationship Id="rId1" Type="http://schemas.openxmlformats.org/officeDocument/2006/relationships/slideLayout" Target="../slideLayouts/slideLayout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609480" y="2160360"/>
            <a:ext cx="571320" cy="378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609480" y="5934240"/>
            <a:ext cx="10972440" cy="35208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609480" y="5934240"/>
            <a:ext cx="10972440" cy="90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4" name="Picture 4" descr="image.png"/>
          <p:cNvPicPr/>
          <p:nvPr/>
        </p:nvPicPr>
        <p:blipFill>
          <a:blip r:embed="rId2"/>
          <a:stretch/>
        </p:blipFill>
        <p:spPr>
          <a:xfrm>
            <a:off x="609480" y="5467320"/>
            <a:ext cx="132840" cy="15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Picture 5" descr="image.png"/>
          <p:cNvPicPr/>
          <p:nvPr/>
        </p:nvPicPr>
        <p:blipFill>
          <a:blip r:embed="rId3"/>
          <a:stretch/>
        </p:blipFill>
        <p:spPr>
          <a:xfrm>
            <a:off x="2176200" y="5467320"/>
            <a:ext cx="132840" cy="15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" name="Picture 6" descr="image.png"/>
          <p:cNvPicPr/>
          <p:nvPr/>
        </p:nvPicPr>
        <p:blipFill>
          <a:blip r:embed="rId2"/>
          <a:stretch/>
        </p:blipFill>
        <p:spPr>
          <a:xfrm>
            <a:off x="4352760" y="5467320"/>
            <a:ext cx="132840" cy="15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" name="Picture 7" descr="image.png"/>
          <p:cNvPicPr/>
          <p:nvPr/>
        </p:nvPicPr>
        <p:blipFill>
          <a:blip r:embed="rId3"/>
          <a:stretch/>
        </p:blipFill>
        <p:spPr>
          <a:xfrm>
            <a:off x="6791760" y="5467320"/>
            <a:ext cx="132840" cy="15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Picture 8" descr="image.png"/>
          <p:cNvPicPr/>
          <p:nvPr/>
        </p:nvPicPr>
        <p:blipFill>
          <a:blip r:embed="rId4"/>
          <a:stretch/>
        </p:blipFill>
        <p:spPr>
          <a:xfrm>
            <a:off x="8943120" y="5467320"/>
            <a:ext cx="13284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TextBox 9"/>
          <p:cNvSpPr/>
          <p:nvPr/>
        </p:nvSpPr>
        <p:spPr>
          <a:xfrm>
            <a:off x="609480" y="571680"/>
            <a:ext cx="1158192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38BDF8"/>
                </a:solidFill>
                <a:effectLst/>
                <a:uFillTx/>
                <a:latin typeface="Arial"/>
              </a:rPr>
              <a:t>UNIVERSIDADE CATÓLICA DE BRASÍLIA • CIÊNCIA DA COMPUTAÇÃO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609480" y="838080"/>
            <a:ext cx="11581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396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Sistema Gerenciador de Loja (SGL)</a:t>
            </a:r>
            <a:endParaRPr lang="pt-B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609480" y="1493640"/>
            <a:ext cx="6953040" cy="43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Arial"/>
              </a:rPr>
              <a:t>Relatório de Banco de Dados: Do Modelo Conceitual à Normalização Operacional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609480" y="5191200"/>
            <a:ext cx="1158192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INTEGRANTES DO GRUPO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609480" y="6134040"/>
            <a:ext cx="324288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Disciplina:</a:t>
            </a:r>
            <a:r>
              <a:rPr lang="en-US" sz="105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 Laboratório de Banco de Dados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4"/>
          <p:cNvSpPr/>
          <p:nvPr/>
        </p:nvSpPr>
        <p:spPr>
          <a:xfrm>
            <a:off x="5846760" y="6134040"/>
            <a:ext cx="247284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Orientador:</a:t>
            </a:r>
            <a:r>
              <a:rPr lang="en-US" sz="105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 Prof. Samuel Novais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5"/>
          <p:cNvSpPr/>
          <p:nvPr/>
        </p:nvSpPr>
        <p:spPr>
          <a:xfrm>
            <a:off x="10468440" y="6134040"/>
            <a:ext cx="139932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Brasília, DF • 2026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6"/>
          <p:cNvSpPr/>
          <p:nvPr/>
        </p:nvSpPr>
        <p:spPr>
          <a:xfrm>
            <a:off x="838080" y="5457960"/>
            <a:ext cx="131868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David Lafaiete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7"/>
          <p:cNvSpPr/>
          <p:nvPr/>
        </p:nvSpPr>
        <p:spPr>
          <a:xfrm>
            <a:off x="2404800" y="5457960"/>
            <a:ext cx="205380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Jhony Moraes da Silva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8"/>
          <p:cNvSpPr/>
          <p:nvPr/>
        </p:nvSpPr>
        <p:spPr>
          <a:xfrm>
            <a:off x="4581360" y="5457960"/>
            <a:ext cx="238176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João Vítor Ferreira Calado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9"/>
          <p:cNvSpPr/>
          <p:nvPr/>
        </p:nvSpPr>
        <p:spPr>
          <a:xfrm>
            <a:off x="7020360" y="5457960"/>
            <a:ext cx="202176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Kauã Lacerda de Lima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0"/>
          <p:cNvSpPr/>
          <p:nvPr/>
        </p:nvSpPr>
        <p:spPr>
          <a:xfrm>
            <a:off x="9171720" y="5457960"/>
            <a:ext cx="196884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Rafael de Sousa Silva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1"/>
          <p:cNvSpPr/>
          <p:nvPr/>
        </p:nvSpPr>
        <p:spPr>
          <a:xfrm>
            <a:off x="0" y="0"/>
            <a:ext cx="12191760" cy="111024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ectangle 2"/>
          <p:cNvSpPr/>
          <p:nvPr/>
        </p:nvSpPr>
        <p:spPr>
          <a:xfrm>
            <a:off x="0" y="1100880"/>
            <a:ext cx="12191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ounded Rectangle 3"/>
          <p:cNvSpPr/>
          <p:nvPr/>
        </p:nvSpPr>
        <p:spPr>
          <a:xfrm>
            <a:off x="609480" y="3958200"/>
            <a:ext cx="10972440" cy="1437840"/>
          </a:xfrm>
          <a:prstGeom prst="roundRect">
            <a:avLst>
              <a:gd name="adj" fmla="val 7947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Rounded Rectangle 4"/>
          <p:cNvSpPr/>
          <p:nvPr/>
        </p:nvSpPr>
        <p:spPr>
          <a:xfrm>
            <a:off x="609480" y="2419920"/>
            <a:ext cx="5390640" cy="1347480"/>
          </a:xfrm>
          <a:prstGeom prst="roundRect">
            <a:avLst>
              <a:gd name="adj" fmla="val 8480"/>
            </a:avLst>
          </a:prstGeom>
          <a:solidFill>
            <a:srgbClr val="F8FAF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Rounded Rectangle 5"/>
          <p:cNvSpPr/>
          <p:nvPr/>
        </p:nvSpPr>
        <p:spPr>
          <a:xfrm>
            <a:off x="6191280" y="2419920"/>
            <a:ext cx="5390640" cy="1347480"/>
          </a:xfrm>
          <a:prstGeom prst="roundRect">
            <a:avLst>
              <a:gd name="adj" fmla="val 8480"/>
            </a:avLst>
          </a:prstGeom>
          <a:solidFill>
            <a:srgbClr val="F8FAF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Rectangle 6"/>
          <p:cNvSpPr/>
          <p:nvPr/>
        </p:nvSpPr>
        <p:spPr>
          <a:xfrm>
            <a:off x="609480" y="3758040"/>
            <a:ext cx="539064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Rectangle 7"/>
          <p:cNvSpPr/>
          <p:nvPr/>
        </p:nvSpPr>
        <p:spPr>
          <a:xfrm>
            <a:off x="609480" y="2419920"/>
            <a:ext cx="539064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Rectangle 8"/>
          <p:cNvSpPr/>
          <p:nvPr/>
        </p:nvSpPr>
        <p:spPr>
          <a:xfrm>
            <a:off x="609480" y="2419920"/>
            <a:ext cx="37800" cy="13474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ectangle 9"/>
          <p:cNvSpPr/>
          <p:nvPr/>
        </p:nvSpPr>
        <p:spPr>
          <a:xfrm>
            <a:off x="5991120" y="2419920"/>
            <a:ext cx="9000" cy="134748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Rectangle 10"/>
          <p:cNvSpPr/>
          <p:nvPr/>
        </p:nvSpPr>
        <p:spPr>
          <a:xfrm>
            <a:off x="6191280" y="3758040"/>
            <a:ext cx="539064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Rectangle 11"/>
          <p:cNvSpPr/>
          <p:nvPr/>
        </p:nvSpPr>
        <p:spPr>
          <a:xfrm>
            <a:off x="6191280" y="2419920"/>
            <a:ext cx="539064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12"/>
          <p:cNvSpPr/>
          <p:nvPr/>
        </p:nvSpPr>
        <p:spPr>
          <a:xfrm>
            <a:off x="6191280" y="2419920"/>
            <a:ext cx="37800" cy="134748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ectangle 13"/>
          <p:cNvSpPr/>
          <p:nvPr/>
        </p:nvSpPr>
        <p:spPr>
          <a:xfrm>
            <a:off x="11572920" y="2419920"/>
            <a:ext cx="9000" cy="134748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Picture 14" descr="image.png"/>
          <p:cNvPicPr/>
          <p:nvPr/>
        </p:nvPicPr>
        <p:blipFill>
          <a:blip r:embed="rId2"/>
          <a:stretch/>
        </p:blipFill>
        <p:spPr>
          <a:xfrm>
            <a:off x="876240" y="2657880"/>
            <a:ext cx="342720" cy="342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" name="Picture 15" descr="image.png"/>
          <p:cNvPicPr/>
          <p:nvPr/>
        </p:nvPicPr>
        <p:blipFill>
          <a:blip r:embed="rId3"/>
          <a:stretch/>
        </p:blipFill>
        <p:spPr>
          <a:xfrm>
            <a:off x="6458040" y="2657880"/>
            <a:ext cx="342720" cy="342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Picture 16" descr="image.png"/>
          <p:cNvPicPr/>
          <p:nvPr/>
        </p:nvPicPr>
        <p:blipFill>
          <a:blip r:embed="rId4"/>
          <a:stretch/>
        </p:blipFill>
        <p:spPr>
          <a:xfrm>
            <a:off x="961920" y="2753280"/>
            <a:ext cx="171000" cy="15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" name="Picture 17" descr="image.png"/>
          <p:cNvPicPr/>
          <p:nvPr/>
        </p:nvPicPr>
        <p:blipFill>
          <a:blip r:embed="rId5"/>
          <a:stretch/>
        </p:blipFill>
        <p:spPr>
          <a:xfrm>
            <a:off x="6553080" y="275328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TextBox 18"/>
          <p:cNvSpPr/>
          <p:nvPr/>
        </p:nvSpPr>
        <p:spPr>
          <a:xfrm>
            <a:off x="609480" y="380880"/>
            <a:ext cx="1158192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PARTE 1 • DOMÍNIO DO SISTEMA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9"/>
          <p:cNvSpPr/>
          <p:nvPr/>
        </p:nvSpPr>
        <p:spPr>
          <a:xfrm>
            <a:off x="609480" y="590400"/>
            <a:ext cx="115819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520"/>
              </a:lnSpc>
            </a:pPr>
            <a:r>
              <a:rPr lang="en-US" sz="210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Documento de Escopo &amp; Regras de Negócio (A1)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20"/>
          <p:cNvSpPr/>
          <p:nvPr/>
        </p:nvSpPr>
        <p:spPr>
          <a:xfrm>
            <a:off x="847800" y="4158000"/>
            <a:ext cx="1134396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DIRETRIZES ESSENCIAIS DE NEGÓCIO (RN01 - RN20)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21"/>
          <p:cNvSpPr/>
          <p:nvPr/>
        </p:nvSpPr>
        <p:spPr>
          <a:xfrm>
            <a:off x="876240" y="3115080"/>
            <a:ext cx="4981320" cy="41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ts val="1630"/>
              </a:lnSpc>
            </a:pP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Gestão comercial completa para varejo de médio porte, integrando clientes, vendedores, estoque e pagamentos.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22"/>
          <p:cNvSpPr/>
          <p:nvPr/>
        </p:nvSpPr>
        <p:spPr>
          <a:xfrm>
            <a:off x="6458040" y="3115080"/>
            <a:ext cx="4981320" cy="41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ts val="1630"/>
              </a:lnSpc>
            </a:pP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Unicidade de CPF/CNPJ, e-mails e autenticação com hash de senha para vendedores.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23"/>
          <p:cNvSpPr/>
          <p:nvPr/>
        </p:nvSpPr>
        <p:spPr>
          <a:xfrm>
            <a:off x="1333440" y="2729520"/>
            <a:ext cx="217584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Escopo Operacional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4"/>
          <p:cNvSpPr/>
          <p:nvPr/>
        </p:nvSpPr>
        <p:spPr>
          <a:xfrm>
            <a:off x="6915240" y="2729520"/>
            <a:ext cx="265068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Integridade &amp; Segurança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5"/>
          <p:cNvSpPr/>
          <p:nvPr/>
        </p:nvSpPr>
        <p:spPr>
          <a:xfrm>
            <a:off x="847800" y="4424760"/>
            <a:ext cx="2885040" cy="22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024"/>
              </a:lnSpc>
            </a:pPr>
            <a:r>
              <a:rPr lang="pt-BR" sz="113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Regra de Negócio 01 (CPF Único e Válido)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26"/>
          <p:cNvSpPr/>
          <p:nvPr/>
        </p:nvSpPr>
        <p:spPr>
          <a:xfrm>
            <a:off x="847800" y="4682160"/>
            <a:ext cx="3221640" cy="22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024"/>
              </a:lnSpc>
            </a:pPr>
            <a:r>
              <a:rPr lang="pt-BR" sz="113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Regra de Negócio 03 (Segurança do Vendedor)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27"/>
          <p:cNvSpPr/>
          <p:nvPr/>
        </p:nvSpPr>
        <p:spPr>
          <a:xfrm>
            <a:off x="847800" y="4939200"/>
            <a:ext cx="2997360" cy="22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024"/>
              </a:lnSpc>
            </a:pPr>
            <a:r>
              <a:rPr lang="pt-BR" sz="113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Regra de Negócio 06 (CNPJ do Fornecedor)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8"/>
          <p:cNvSpPr/>
          <p:nvPr/>
        </p:nvSpPr>
        <p:spPr>
          <a:xfrm>
            <a:off x="6210360" y="4424760"/>
            <a:ext cx="3614400" cy="22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024"/>
              </a:lnSpc>
            </a:pPr>
            <a:r>
              <a:rPr lang="pt-BR" sz="113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Regra de Negócio 10 (Validação de Preço e Estoque)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29"/>
          <p:cNvSpPr/>
          <p:nvPr/>
        </p:nvSpPr>
        <p:spPr>
          <a:xfrm>
            <a:off x="6210360" y="4682160"/>
            <a:ext cx="3951000" cy="22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024"/>
              </a:lnSpc>
            </a:pPr>
            <a:r>
              <a:rPr lang="pt-BR" sz="113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Regra de Negócio 16 (Congelamento de Preço no Pedido)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30"/>
          <p:cNvSpPr/>
          <p:nvPr/>
        </p:nvSpPr>
        <p:spPr>
          <a:xfrm>
            <a:off x="6210360" y="4939200"/>
            <a:ext cx="3646440" cy="22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024"/>
              </a:lnSpc>
            </a:pPr>
            <a:r>
              <a:rPr lang="pt-BR" sz="113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Regra de Negócio 21 (Restrição de Status do Pedido)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Rectangle 1"/>
          <p:cNvSpPr/>
          <p:nvPr/>
        </p:nvSpPr>
        <p:spPr>
          <a:xfrm>
            <a:off x="0" y="0"/>
            <a:ext cx="12191760" cy="111024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Rectangle 2"/>
          <p:cNvSpPr/>
          <p:nvPr/>
        </p:nvSpPr>
        <p:spPr>
          <a:xfrm>
            <a:off x="0" y="1100880"/>
            <a:ext cx="12191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Rounded Rectangle 3"/>
          <p:cNvSpPr/>
          <p:nvPr/>
        </p:nvSpPr>
        <p:spPr>
          <a:xfrm>
            <a:off x="609480" y="2360160"/>
            <a:ext cx="6076440" cy="3095280"/>
          </a:xfrm>
          <a:prstGeom prst="roundRect">
            <a:avLst>
              <a:gd name="adj" fmla="val 3692"/>
            </a:avLst>
          </a:prstGeom>
          <a:solidFill>
            <a:srgbClr val="F8FAFC"/>
          </a:solidFill>
          <a:ln>
            <a:solidFill>
              <a:srgbClr val="CBD5E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Rounded Rectangle 4"/>
          <p:cNvSpPr/>
          <p:nvPr/>
        </p:nvSpPr>
        <p:spPr>
          <a:xfrm>
            <a:off x="6915240" y="2457720"/>
            <a:ext cx="4667040" cy="1373760"/>
          </a:xfrm>
          <a:prstGeom prst="roundRect">
            <a:avLst>
              <a:gd name="adj" fmla="val 8318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Rounded Rectangle 5"/>
          <p:cNvSpPr/>
          <p:nvPr/>
        </p:nvSpPr>
        <p:spPr>
          <a:xfrm>
            <a:off x="6915240" y="3984120"/>
            <a:ext cx="4667040" cy="1373760"/>
          </a:xfrm>
          <a:prstGeom prst="roundRect">
            <a:avLst>
              <a:gd name="adj" fmla="val 8318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ounded Rectangle 6"/>
          <p:cNvSpPr/>
          <p:nvPr/>
        </p:nvSpPr>
        <p:spPr>
          <a:xfrm>
            <a:off x="847800" y="2903040"/>
            <a:ext cx="5600520" cy="371160"/>
          </a:xfrm>
          <a:prstGeom prst="roundRect">
            <a:avLst>
              <a:gd name="adj" fmla="val 20512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Rounded Rectangle 7"/>
          <p:cNvSpPr/>
          <p:nvPr/>
        </p:nvSpPr>
        <p:spPr>
          <a:xfrm>
            <a:off x="847800" y="3389040"/>
            <a:ext cx="5600520" cy="371160"/>
          </a:xfrm>
          <a:prstGeom prst="roundRect">
            <a:avLst>
              <a:gd name="adj" fmla="val 20512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Rounded Rectangle 8"/>
          <p:cNvSpPr/>
          <p:nvPr/>
        </p:nvSpPr>
        <p:spPr>
          <a:xfrm>
            <a:off x="847800" y="3874680"/>
            <a:ext cx="5600520" cy="371160"/>
          </a:xfrm>
          <a:prstGeom prst="roundRect">
            <a:avLst>
              <a:gd name="adj" fmla="val 20512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Rounded Rectangle 9"/>
          <p:cNvSpPr/>
          <p:nvPr/>
        </p:nvSpPr>
        <p:spPr>
          <a:xfrm>
            <a:off x="847800" y="4360680"/>
            <a:ext cx="5600520" cy="371160"/>
          </a:xfrm>
          <a:prstGeom prst="roundRect">
            <a:avLst>
              <a:gd name="adj" fmla="val 20512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Rounded Rectangle 10"/>
          <p:cNvSpPr/>
          <p:nvPr/>
        </p:nvSpPr>
        <p:spPr>
          <a:xfrm>
            <a:off x="847800" y="4846320"/>
            <a:ext cx="5600520" cy="371160"/>
          </a:xfrm>
          <a:prstGeom prst="roundRect">
            <a:avLst>
              <a:gd name="adj" fmla="val 20512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11"/>
          <p:cNvSpPr/>
          <p:nvPr/>
        </p:nvSpPr>
        <p:spPr>
          <a:xfrm>
            <a:off x="609480" y="380880"/>
            <a:ext cx="1158192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PARTE 2 • ARQUITETURA DE DADOS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2"/>
          <p:cNvSpPr/>
          <p:nvPr/>
        </p:nvSpPr>
        <p:spPr>
          <a:xfrm>
            <a:off x="609480" y="590400"/>
            <a:ext cx="115819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520"/>
              </a:lnSpc>
            </a:pPr>
            <a:r>
              <a:rPr lang="en-US" sz="210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Modelo Entidade-Relacionamento Conceitual (MER)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3"/>
          <p:cNvSpPr/>
          <p:nvPr/>
        </p:nvSpPr>
        <p:spPr>
          <a:xfrm>
            <a:off x="847800" y="2598480"/>
            <a:ext cx="700056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VISÃO GERAL DAS ENTIDADES E CARDINALIDADES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14"/>
          <p:cNvSpPr/>
          <p:nvPr/>
        </p:nvSpPr>
        <p:spPr>
          <a:xfrm>
            <a:off x="7153200" y="2696040"/>
            <a:ext cx="503820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Hierarquia de Especialização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15"/>
          <p:cNvSpPr/>
          <p:nvPr/>
        </p:nvSpPr>
        <p:spPr>
          <a:xfrm>
            <a:off x="7153200" y="2972160"/>
            <a:ext cx="4285800" cy="62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ts val="1630"/>
              </a:lnSpc>
            </a:pP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Centralização de dados comuns em </a:t>
            </a:r>
            <a:r>
              <a:rPr lang="en-US" sz="1130" b="1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pessoa</a:t>
            </a: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 com extensões exclusivas para </a:t>
            </a:r>
            <a:r>
              <a:rPr lang="en-US" sz="1130" b="1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cliente</a:t>
            </a: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 (data_cadastro) e </a:t>
            </a:r>
            <a:r>
              <a:rPr lang="en-US" sz="1130" b="1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vendedor</a:t>
            </a: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 (login, senha_hash).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16"/>
          <p:cNvSpPr/>
          <p:nvPr/>
        </p:nvSpPr>
        <p:spPr>
          <a:xfrm>
            <a:off x="7153200" y="4222440"/>
            <a:ext cx="503820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0D9488"/>
                </a:solidFill>
                <a:effectLst/>
                <a:uFillTx/>
                <a:latin typeface="Arial"/>
              </a:rPr>
              <a:t>Auditoria &amp; Temporalidade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17"/>
          <p:cNvSpPr/>
          <p:nvPr/>
        </p:nvSpPr>
        <p:spPr>
          <a:xfrm>
            <a:off x="7153200" y="4498560"/>
            <a:ext cx="4285800" cy="62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ts val="1630"/>
              </a:lnSpc>
            </a:pP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Rastreamento de transição de status em tempo real via </a:t>
            </a:r>
            <a:r>
              <a:rPr lang="en-US" sz="1130" b="1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historico_status_pedido</a:t>
            </a: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 e histórico de pagamentos parcelados ou múltiplos.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18"/>
          <p:cNvSpPr/>
          <p:nvPr/>
        </p:nvSpPr>
        <p:spPr>
          <a:xfrm>
            <a:off x="990720" y="3007800"/>
            <a:ext cx="239868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pessoa</a:t>
            </a:r>
            <a:r>
              <a:rPr lang="en-US" sz="1130" b="0" u="none" strike="noStrike">
                <a:solidFill>
                  <a:srgbClr val="334155"/>
                </a:solidFill>
                <a:effectLst/>
                <a:uFillTx/>
                <a:latin typeface="Arial"/>
              </a:rPr>
              <a:t> (Especialização Total)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19"/>
          <p:cNvSpPr/>
          <p:nvPr/>
        </p:nvSpPr>
        <p:spPr>
          <a:xfrm>
            <a:off x="4968000" y="3017520"/>
            <a:ext cx="1671840" cy="14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Consolas"/>
              </a:rPr>
              <a:t>cliente | vendedor</a:t>
            </a:r>
            <a:endParaRPr lang="pt-BR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20"/>
          <p:cNvSpPr/>
          <p:nvPr/>
        </p:nvSpPr>
        <p:spPr>
          <a:xfrm>
            <a:off x="990720" y="3493800"/>
            <a:ext cx="261036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categoria</a:t>
            </a:r>
            <a:r>
              <a:rPr lang="en-US" sz="1130" b="0" u="none" strike="noStrike">
                <a:solidFill>
                  <a:srgbClr val="334155"/>
                </a:solidFill>
                <a:effectLst/>
                <a:uFillTx/>
                <a:latin typeface="Arial"/>
              </a:rPr>
              <a:t> (Autorrelacionamento)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21"/>
          <p:cNvSpPr/>
          <p:nvPr/>
        </p:nvSpPr>
        <p:spPr>
          <a:xfrm>
            <a:off x="4968000" y="3503160"/>
            <a:ext cx="1671840" cy="14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Consolas"/>
              </a:rPr>
              <a:t>(0,1) contém (0,n)</a:t>
            </a:r>
            <a:endParaRPr lang="pt-BR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22"/>
          <p:cNvSpPr/>
          <p:nvPr/>
        </p:nvSpPr>
        <p:spPr>
          <a:xfrm>
            <a:off x="990720" y="3979440"/>
            <a:ext cx="277812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fornecedor_produto</a:t>
            </a:r>
            <a:r>
              <a:rPr lang="en-US" sz="1130" b="0" u="none" strike="noStrike">
                <a:solidFill>
                  <a:srgbClr val="334155"/>
                </a:solidFill>
                <a:effectLst/>
                <a:uFillTx/>
                <a:latin typeface="Arial"/>
              </a:rPr>
              <a:t> (Associativa)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23"/>
          <p:cNvSpPr/>
          <p:nvPr/>
        </p:nvSpPr>
        <p:spPr>
          <a:xfrm>
            <a:off x="5042160" y="3989160"/>
            <a:ext cx="1578600" cy="14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Consolas"/>
              </a:rPr>
              <a:t>N:N com atributos</a:t>
            </a:r>
            <a:endParaRPr lang="pt-BR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24"/>
          <p:cNvSpPr/>
          <p:nvPr/>
        </p:nvSpPr>
        <p:spPr>
          <a:xfrm>
            <a:off x="990720" y="4465440"/>
            <a:ext cx="21236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item_pedido</a:t>
            </a:r>
            <a:r>
              <a:rPr lang="en-US" sz="1130" b="0" u="none" strike="noStrike">
                <a:solidFill>
                  <a:srgbClr val="334155"/>
                </a:solidFill>
                <a:effectLst/>
                <a:uFillTx/>
                <a:latin typeface="Arial"/>
              </a:rPr>
              <a:t> (Associativa)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25"/>
          <p:cNvSpPr/>
          <p:nvPr/>
        </p:nvSpPr>
        <p:spPr>
          <a:xfrm>
            <a:off x="4968000" y="4474800"/>
            <a:ext cx="1671840" cy="14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Consolas"/>
              </a:rPr>
              <a:t>(1,1) compõe (1,n)</a:t>
            </a:r>
            <a:endParaRPr lang="pt-BR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26"/>
          <p:cNvSpPr/>
          <p:nvPr/>
        </p:nvSpPr>
        <p:spPr>
          <a:xfrm>
            <a:off x="990720" y="4951080"/>
            <a:ext cx="344376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historico_status_pedido</a:t>
            </a:r>
            <a:r>
              <a:rPr lang="en-US" sz="1130" b="0" u="none" strike="noStrike">
                <a:solidFill>
                  <a:srgbClr val="334155"/>
                </a:solidFill>
                <a:effectLst/>
                <a:uFillTx/>
                <a:latin typeface="Arial"/>
              </a:rPr>
              <a:t> (Entidade Fraca)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27"/>
          <p:cNvSpPr/>
          <p:nvPr/>
        </p:nvSpPr>
        <p:spPr>
          <a:xfrm>
            <a:off x="4819320" y="4960440"/>
            <a:ext cx="1857240" cy="14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Consolas"/>
              </a:rPr>
              <a:t>(1,1) registra (1,n)</a:t>
            </a:r>
            <a:endParaRPr lang="pt-BR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"/>
          <p:cNvSpPr/>
          <p:nvPr/>
        </p:nvSpPr>
        <p:spPr>
          <a:xfrm>
            <a:off x="0" y="0"/>
            <a:ext cx="12191760" cy="111024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Rectangle 2"/>
          <p:cNvSpPr/>
          <p:nvPr/>
        </p:nvSpPr>
        <p:spPr>
          <a:xfrm>
            <a:off x="0" y="1100880"/>
            <a:ext cx="12191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11"/>
          <p:cNvSpPr/>
          <p:nvPr/>
        </p:nvSpPr>
        <p:spPr>
          <a:xfrm>
            <a:off x="609480" y="380880"/>
            <a:ext cx="1158192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PARTE 2 • ARQUITETURA DE DADOS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2"/>
          <p:cNvSpPr/>
          <p:nvPr/>
        </p:nvSpPr>
        <p:spPr>
          <a:xfrm>
            <a:off x="609480" y="590400"/>
            <a:ext cx="115819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520"/>
              </a:lnSpc>
            </a:pPr>
            <a:r>
              <a:rPr lang="en-US" sz="210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Modelo Entidade-Relacionamento Conceitual (MER)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Picture 29" descr="A diagram of a data flow&#10;&#10;AI-generated content may be incorrect."/>
          <p:cNvPicPr/>
          <p:nvPr/>
        </p:nvPicPr>
        <p:blipFill>
          <a:blip r:embed="rId2"/>
          <a:stretch/>
        </p:blipFill>
        <p:spPr>
          <a:xfrm>
            <a:off x="3387600" y="1108440"/>
            <a:ext cx="5406840" cy="57492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 1"/>
          <p:cNvSpPr/>
          <p:nvPr/>
        </p:nvSpPr>
        <p:spPr>
          <a:xfrm>
            <a:off x="0" y="0"/>
            <a:ext cx="12191760" cy="9007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ectangle 2"/>
          <p:cNvSpPr/>
          <p:nvPr/>
        </p:nvSpPr>
        <p:spPr>
          <a:xfrm>
            <a:off x="0" y="891360"/>
            <a:ext cx="12191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Rectangle 3"/>
          <p:cNvSpPr/>
          <p:nvPr/>
        </p:nvSpPr>
        <p:spPr>
          <a:xfrm>
            <a:off x="619200" y="2269800"/>
            <a:ext cx="171576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Rectangle 4"/>
          <p:cNvSpPr/>
          <p:nvPr/>
        </p:nvSpPr>
        <p:spPr>
          <a:xfrm>
            <a:off x="2334960" y="2269800"/>
            <a:ext cx="187956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ectangle 5"/>
          <p:cNvSpPr/>
          <p:nvPr/>
        </p:nvSpPr>
        <p:spPr>
          <a:xfrm>
            <a:off x="4215240" y="2269800"/>
            <a:ext cx="335880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Rectangle 6"/>
          <p:cNvSpPr/>
          <p:nvPr/>
        </p:nvSpPr>
        <p:spPr>
          <a:xfrm>
            <a:off x="7574040" y="2269800"/>
            <a:ext cx="399852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Rectangle 7"/>
          <p:cNvSpPr/>
          <p:nvPr/>
        </p:nvSpPr>
        <p:spPr>
          <a:xfrm>
            <a:off x="619200" y="2536560"/>
            <a:ext cx="1715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Rectangle 8"/>
          <p:cNvSpPr/>
          <p:nvPr/>
        </p:nvSpPr>
        <p:spPr>
          <a:xfrm>
            <a:off x="2334960" y="2536560"/>
            <a:ext cx="18795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Rectangle 9"/>
          <p:cNvSpPr/>
          <p:nvPr/>
        </p:nvSpPr>
        <p:spPr>
          <a:xfrm>
            <a:off x="4215240" y="2536560"/>
            <a:ext cx="335880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Rectangle 10"/>
          <p:cNvSpPr/>
          <p:nvPr/>
        </p:nvSpPr>
        <p:spPr>
          <a:xfrm>
            <a:off x="7574040" y="2536560"/>
            <a:ext cx="399852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Rectangle 11"/>
          <p:cNvSpPr/>
          <p:nvPr/>
        </p:nvSpPr>
        <p:spPr>
          <a:xfrm>
            <a:off x="619200" y="2803320"/>
            <a:ext cx="1715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Rectangle 12"/>
          <p:cNvSpPr/>
          <p:nvPr/>
        </p:nvSpPr>
        <p:spPr>
          <a:xfrm>
            <a:off x="2334960" y="2803320"/>
            <a:ext cx="18795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Rectangle 13"/>
          <p:cNvSpPr/>
          <p:nvPr/>
        </p:nvSpPr>
        <p:spPr>
          <a:xfrm>
            <a:off x="4215240" y="2803320"/>
            <a:ext cx="335880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Rectangle 14"/>
          <p:cNvSpPr/>
          <p:nvPr/>
        </p:nvSpPr>
        <p:spPr>
          <a:xfrm>
            <a:off x="7574040" y="2803320"/>
            <a:ext cx="399852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Rectangle 15"/>
          <p:cNvSpPr/>
          <p:nvPr/>
        </p:nvSpPr>
        <p:spPr>
          <a:xfrm>
            <a:off x="619200" y="3231720"/>
            <a:ext cx="1715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Rectangle 16"/>
          <p:cNvSpPr/>
          <p:nvPr/>
        </p:nvSpPr>
        <p:spPr>
          <a:xfrm>
            <a:off x="2334960" y="3231720"/>
            <a:ext cx="18795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Rectangle 17"/>
          <p:cNvSpPr/>
          <p:nvPr/>
        </p:nvSpPr>
        <p:spPr>
          <a:xfrm>
            <a:off x="4215240" y="3231720"/>
            <a:ext cx="335880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Rectangle 18"/>
          <p:cNvSpPr/>
          <p:nvPr/>
        </p:nvSpPr>
        <p:spPr>
          <a:xfrm>
            <a:off x="7574040" y="3231720"/>
            <a:ext cx="399852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Rectangle 19"/>
          <p:cNvSpPr/>
          <p:nvPr/>
        </p:nvSpPr>
        <p:spPr>
          <a:xfrm>
            <a:off x="619200" y="3660480"/>
            <a:ext cx="1715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Rectangle 20"/>
          <p:cNvSpPr/>
          <p:nvPr/>
        </p:nvSpPr>
        <p:spPr>
          <a:xfrm>
            <a:off x="2334960" y="3660480"/>
            <a:ext cx="18795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Rectangle 21"/>
          <p:cNvSpPr/>
          <p:nvPr/>
        </p:nvSpPr>
        <p:spPr>
          <a:xfrm>
            <a:off x="4215240" y="3660480"/>
            <a:ext cx="335880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Rectangle 22"/>
          <p:cNvSpPr/>
          <p:nvPr/>
        </p:nvSpPr>
        <p:spPr>
          <a:xfrm>
            <a:off x="7574040" y="3660480"/>
            <a:ext cx="399852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Rectangle 23"/>
          <p:cNvSpPr/>
          <p:nvPr/>
        </p:nvSpPr>
        <p:spPr>
          <a:xfrm>
            <a:off x="619200" y="3927240"/>
            <a:ext cx="1715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ectangle 24"/>
          <p:cNvSpPr/>
          <p:nvPr/>
        </p:nvSpPr>
        <p:spPr>
          <a:xfrm>
            <a:off x="2334960" y="3927240"/>
            <a:ext cx="18795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Rectangle 25"/>
          <p:cNvSpPr/>
          <p:nvPr/>
        </p:nvSpPr>
        <p:spPr>
          <a:xfrm>
            <a:off x="4215240" y="3927240"/>
            <a:ext cx="335880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Rectangle 26"/>
          <p:cNvSpPr/>
          <p:nvPr/>
        </p:nvSpPr>
        <p:spPr>
          <a:xfrm>
            <a:off x="7574040" y="3927240"/>
            <a:ext cx="399852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Rectangle 27"/>
          <p:cNvSpPr/>
          <p:nvPr/>
        </p:nvSpPr>
        <p:spPr>
          <a:xfrm>
            <a:off x="619200" y="4194000"/>
            <a:ext cx="1715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Rectangle 28"/>
          <p:cNvSpPr/>
          <p:nvPr/>
        </p:nvSpPr>
        <p:spPr>
          <a:xfrm>
            <a:off x="2334960" y="4194000"/>
            <a:ext cx="18795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Rectangle 29"/>
          <p:cNvSpPr/>
          <p:nvPr/>
        </p:nvSpPr>
        <p:spPr>
          <a:xfrm>
            <a:off x="4215240" y="4194000"/>
            <a:ext cx="335880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ectangle 30"/>
          <p:cNvSpPr/>
          <p:nvPr/>
        </p:nvSpPr>
        <p:spPr>
          <a:xfrm>
            <a:off x="7574040" y="4194000"/>
            <a:ext cx="399852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Rectangle 31"/>
          <p:cNvSpPr/>
          <p:nvPr/>
        </p:nvSpPr>
        <p:spPr>
          <a:xfrm>
            <a:off x="619200" y="4460400"/>
            <a:ext cx="1715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Rectangle 32"/>
          <p:cNvSpPr/>
          <p:nvPr/>
        </p:nvSpPr>
        <p:spPr>
          <a:xfrm>
            <a:off x="2334960" y="4460400"/>
            <a:ext cx="18795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Rectangle 33"/>
          <p:cNvSpPr/>
          <p:nvPr/>
        </p:nvSpPr>
        <p:spPr>
          <a:xfrm>
            <a:off x="4215240" y="4460400"/>
            <a:ext cx="335880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Rectangle 34"/>
          <p:cNvSpPr/>
          <p:nvPr/>
        </p:nvSpPr>
        <p:spPr>
          <a:xfrm>
            <a:off x="7574040" y="4460400"/>
            <a:ext cx="399852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Rectangle 35"/>
          <p:cNvSpPr/>
          <p:nvPr/>
        </p:nvSpPr>
        <p:spPr>
          <a:xfrm>
            <a:off x="619200" y="4727160"/>
            <a:ext cx="1715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Rectangle 36"/>
          <p:cNvSpPr/>
          <p:nvPr/>
        </p:nvSpPr>
        <p:spPr>
          <a:xfrm>
            <a:off x="2334960" y="4727160"/>
            <a:ext cx="18795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Rectangle 37"/>
          <p:cNvSpPr/>
          <p:nvPr/>
        </p:nvSpPr>
        <p:spPr>
          <a:xfrm>
            <a:off x="4215240" y="4727160"/>
            <a:ext cx="335880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Rectangle 38"/>
          <p:cNvSpPr/>
          <p:nvPr/>
        </p:nvSpPr>
        <p:spPr>
          <a:xfrm>
            <a:off x="7574040" y="4727160"/>
            <a:ext cx="399852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Rectangle 39"/>
          <p:cNvSpPr/>
          <p:nvPr/>
        </p:nvSpPr>
        <p:spPr>
          <a:xfrm>
            <a:off x="619200" y="4993920"/>
            <a:ext cx="1715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Rectangle 40"/>
          <p:cNvSpPr/>
          <p:nvPr/>
        </p:nvSpPr>
        <p:spPr>
          <a:xfrm>
            <a:off x="2334960" y="4993920"/>
            <a:ext cx="18795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Rectangle 41"/>
          <p:cNvSpPr/>
          <p:nvPr/>
        </p:nvSpPr>
        <p:spPr>
          <a:xfrm>
            <a:off x="4215240" y="4993920"/>
            <a:ext cx="335880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Rectangle 42"/>
          <p:cNvSpPr/>
          <p:nvPr/>
        </p:nvSpPr>
        <p:spPr>
          <a:xfrm>
            <a:off x="7574040" y="4993920"/>
            <a:ext cx="399852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Rectangle 43"/>
          <p:cNvSpPr/>
          <p:nvPr/>
        </p:nvSpPr>
        <p:spPr>
          <a:xfrm>
            <a:off x="619200" y="5260680"/>
            <a:ext cx="1715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Rectangle 44"/>
          <p:cNvSpPr/>
          <p:nvPr/>
        </p:nvSpPr>
        <p:spPr>
          <a:xfrm>
            <a:off x="2334960" y="5260680"/>
            <a:ext cx="18795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ectangle 45"/>
          <p:cNvSpPr/>
          <p:nvPr/>
        </p:nvSpPr>
        <p:spPr>
          <a:xfrm>
            <a:off x="4215240" y="5260680"/>
            <a:ext cx="335880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Rectangle 46"/>
          <p:cNvSpPr/>
          <p:nvPr/>
        </p:nvSpPr>
        <p:spPr>
          <a:xfrm>
            <a:off x="7574040" y="5260680"/>
            <a:ext cx="399852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Rounded Rectangle 47"/>
          <p:cNvSpPr/>
          <p:nvPr/>
        </p:nvSpPr>
        <p:spPr>
          <a:xfrm>
            <a:off x="733320" y="2336400"/>
            <a:ext cx="819000" cy="171000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Rounded Rectangle 48"/>
          <p:cNvSpPr/>
          <p:nvPr/>
        </p:nvSpPr>
        <p:spPr>
          <a:xfrm>
            <a:off x="733320" y="2603160"/>
            <a:ext cx="965520" cy="171000"/>
          </a:xfrm>
          <a:prstGeom prst="roundRect">
            <a:avLst>
              <a:gd name="adj" fmla="val 22222"/>
            </a:avLst>
          </a:prstGeom>
          <a:solidFill>
            <a:srgbClr val="FEF3C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Rounded Rectangle 49"/>
          <p:cNvSpPr/>
          <p:nvPr/>
        </p:nvSpPr>
        <p:spPr>
          <a:xfrm>
            <a:off x="733320" y="2950920"/>
            <a:ext cx="965520" cy="171000"/>
          </a:xfrm>
          <a:prstGeom prst="roundRect">
            <a:avLst>
              <a:gd name="adj" fmla="val 22222"/>
            </a:avLst>
          </a:prstGeom>
          <a:solidFill>
            <a:srgbClr val="FEF3C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ounded Rectangle 50"/>
          <p:cNvSpPr/>
          <p:nvPr/>
        </p:nvSpPr>
        <p:spPr>
          <a:xfrm>
            <a:off x="733320" y="3379320"/>
            <a:ext cx="437760" cy="171000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Rounded Rectangle 51"/>
          <p:cNvSpPr/>
          <p:nvPr/>
        </p:nvSpPr>
        <p:spPr>
          <a:xfrm>
            <a:off x="733320" y="3727080"/>
            <a:ext cx="437760" cy="171000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Rounded Rectangle 52"/>
          <p:cNvSpPr/>
          <p:nvPr/>
        </p:nvSpPr>
        <p:spPr>
          <a:xfrm>
            <a:off x="733320" y="3993840"/>
            <a:ext cx="437760" cy="171000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Rounded Rectangle 53"/>
          <p:cNvSpPr/>
          <p:nvPr/>
        </p:nvSpPr>
        <p:spPr>
          <a:xfrm>
            <a:off x="733320" y="4260600"/>
            <a:ext cx="787320" cy="171000"/>
          </a:xfrm>
          <a:prstGeom prst="roundRect">
            <a:avLst>
              <a:gd name="adj" fmla="val 22222"/>
            </a:avLst>
          </a:prstGeom>
          <a:solidFill>
            <a:srgbClr val="F3E8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Rounded Rectangle 54"/>
          <p:cNvSpPr/>
          <p:nvPr/>
        </p:nvSpPr>
        <p:spPr>
          <a:xfrm>
            <a:off x="733320" y="4527360"/>
            <a:ext cx="437760" cy="171000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Rounded Rectangle 55"/>
          <p:cNvSpPr/>
          <p:nvPr/>
        </p:nvSpPr>
        <p:spPr>
          <a:xfrm>
            <a:off x="733320" y="4793760"/>
            <a:ext cx="787320" cy="171000"/>
          </a:xfrm>
          <a:prstGeom prst="roundRect">
            <a:avLst>
              <a:gd name="adj" fmla="val 22222"/>
            </a:avLst>
          </a:prstGeom>
          <a:solidFill>
            <a:srgbClr val="F3E8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Rounded Rectangle 56"/>
          <p:cNvSpPr/>
          <p:nvPr/>
        </p:nvSpPr>
        <p:spPr>
          <a:xfrm>
            <a:off x="733320" y="5060520"/>
            <a:ext cx="457200" cy="171000"/>
          </a:xfrm>
          <a:prstGeom prst="roundRect">
            <a:avLst>
              <a:gd name="adj" fmla="val 22222"/>
            </a:avLst>
          </a:prstGeom>
          <a:solidFill>
            <a:srgbClr val="FFE4E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Rounded Rectangle 57"/>
          <p:cNvSpPr/>
          <p:nvPr/>
        </p:nvSpPr>
        <p:spPr>
          <a:xfrm>
            <a:off x="733320" y="5408280"/>
            <a:ext cx="457200" cy="171000"/>
          </a:xfrm>
          <a:prstGeom prst="roundRect">
            <a:avLst>
              <a:gd name="adj" fmla="val 22222"/>
            </a:avLst>
          </a:prstGeom>
          <a:solidFill>
            <a:srgbClr val="FFE4E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00" name="Table 58"/>
          <p:cNvGraphicFramePr/>
          <p:nvPr/>
        </p:nvGraphicFramePr>
        <p:xfrm>
          <a:off x="609480" y="1945800"/>
          <a:ext cx="10953360" cy="4025160"/>
        </p:xfrm>
        <a:graphic>
          <a:graphicData uri="http://schemas.openxmlformats.org/drawingml/2006/table">
            <a:tbl>
              <a:tblPr/>
              <a:tblGrid>
                <a:gridCol w="171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5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8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24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Arial"/>
                        </a:rPr>
                        <a:t>Classificação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Arial"/>
                        </a:rPr>
                        <a:t>Entidade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Arial"/>
                        </a:rPr>
                        <a:t>Atributos Chave / Domínios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Arial"/>
                        </a:rPr>
                        <a:t>Restrições de Integridade &amp; Regras de Negócio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480">
                <a:tc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pessoa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id_pessoa (PK), cpf, email, nome, ativo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CPF e Email com </a:t>
                      </a: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UNIQUE (UQ)</a:t>
                      </a: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; Centraliza dados gerais.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80">
                <a:tc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cliente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id_pessoa (PK/FK), data_cadastro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Herança total de pessoa; Data gerada automaticamente.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480">
                <a:tc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vendedor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id_pessoa (PK/FK), login, senha_hash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Login </a:t>
                      </a: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UNIQUE (UQ)</a:t>
                      </a: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; Senha com hash criptográfico seguro.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2480">
                <a:tc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categoria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id_categoria (PK), nome, id_categoria_pai (FK)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Autorrelacionamento</a:t>
                      </a: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 (0,1) : (0,n) para categorias e subcategorias.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2480">
                <a:tc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produto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id_produto (PK), preco_unitario, estoque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CHECK</a:t>
                      </a: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 (preco_unitario &gt; 0.00); </a:t>
                      </a: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CHECK</a:t>
                      </a: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 (estoque &gt;= 0).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2480">
                <a:tc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fornecedor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id_fornecedor (PK), cnpj, razao_social, email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CNPJ e Email configurados com </a:t>
                      </a: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UNIQUE (UQ)</a:t>
                      </a: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2480">
                <a:tc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fornecedor_produto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(id_fornecedor, id_produto) [PK/FK], preco_custo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Mapeia suprimento N:N; Armazena prazo e preço de custo.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2480">
                <a:tc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pedido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id_pedido (PK), id_cliente (FK), id_vendedor (FK)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Vínculo com cliente e vendedor; Valor total calculated.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2480">
                <a:tc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item_pedido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(id_pedido, id_produto) [PK/FK], preco_unitario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Congelamento histórico</a:t>
                      </a: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 do preço praticado na venda.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2480">
                <a:tc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historico_status_pedido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(id_pedido [FK], data_alteracao) [PK], status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Dependente de pedido; </a:t>
                      </a: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Auditoria temporal</a:t>
                      </a: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 de transições.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480">
                <a:tc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pagamento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id_pagamento (PK), id_pedido (FK), forma, valor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CHECK</a:t>
                      </a: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 (DINHEIRO, CARTAO, PIX, BOLETO); Quitação parcelada.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01" name="TextBox 59"/>
          <p:cNvSpPr/>
          <p:nvPr/>
        </p:nvSpPr>
        <p:spPr>
          <a:xfrm>
            <a:off x="609480" y="228600"/>
            <a:ext cx="1158192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PARTE 3 • ESPECIFICAÇÃO TÉCNICA DE DADOS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60"/>
          <p:cNvSpPr/>
          <p:nvPr/>
        </p:nvSpPr>
        <p:spPr>
          <a:xfrm>
            <a:off x="609480" y="438120"/>
            <a:ext cx="115819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520"/>
              </a:lnSpc>
            </a:pPr>
            <a:r>
              <a:rPr lang="en-US" sz="210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Dicionário de Dados Conceitual (Visão Completa)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61"/>
          <p:cNvSpPr/>
          <p:nvPr/>
        </p:nvSpPr>
        <p:spPr>
          <a:xfrm>
            <a:off x="809640" y="2355480"/>
            <a:ext cx="761760" cy="1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369A1"/>
                </a:solidFill>
                <a:effectLst/>
                <a:uFillTx/>
                <a:latin typeface="Arial"/>
              </a:rPr>
              <a:t>Forte (Base)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62"/>
          <p:cNvSpPr/>
          <p:nvPr/>
        </p:nvSpPr>
        <p:spPr>
          <a:xfrm>
            <a:off x="809640" y="2622240"/>
            <a:ext cx="908280" cy="1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92400E"/>
                </a:solidFill>
                <a:effectLst/>
                <a:uFillTx/>
                <a:latin typeface="Arial"/>
              </a:rPr>
              <a:t>Especialização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63"/>
          <p:cNvSpPr/>
          <p:nvPr/>
        </p:nvSpPr>
        <p:spPr>
          <a:xfrm>
            <a:off x="809640" y="2970000"/>
            <a:ext cx="908280" cy="1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92400E"/>
                </a:solidFill>
                <a:effectLst/>
                <a:uFillTx/>
                <a:latin typeface="Arial"/>
              </a:rPr>
              <a:t>Especialização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64"/>
          <p:cNvSpPr/>
          <p:nvPr/>
        </p:nvSpPr>
        <p:spPr>
          <a:xfrm>
            <a:off x="809640" y="3398400"/>
            <a:ext cx="380520" cy="1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369A1"/>
                </a:solidFill>
                <a:effectLst/>
                <a:uFillTx/>
                <a:latin typeface="Arial"/>
              </a:rPr>
              <a:t>Forte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65"/>
          <p:cNvSpPr/>
          <p:nvPr/>
        </p:nvSpPr>
        <p:spPr>
          <a:xfrm>
            <a:off x="809640" y="3746160"/>
            <a:ext cx="380520" cy="1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369A1"/>
                </a:solidFill>
                <a:effectLst/>
                <a:uFillTx/>
                <a:latin typeface="Arial"/>
              </a:rPr>
              <a:t>Forte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66"/>
          <p:cNvSpPr/>
          <p:nvPr/>
        </p:nvSpPr>
        <p:spPr>
          <a:xfrm>
            <a:off x="809640" y="4012920"/>
            <a:ext cx="380520" cy="1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369A1"/>
                </a:solidFill>
                <a:effectLst/>
                <a:uFillTx/>
                <a:latin typeface="Arial"/>
              </a:rPr>
              <a:t>Forte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67"/>
          <p:cNvSpPr/>
          <p:nvPr/>
        </p:nvSpPr>
        <p:spPr>
          <a:xfrm>
            <a:off x="809640" y="4279680"/>
            <a:ext cx="730080" cy="1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6B21A8"/>
                </a:solidFill>
                <a:effectLst/>
                <a:uFillTx/>
                <a:latin typeface="Arial"/>
              </a:rPr>
              <a:t>Associativa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68"/>
          <p:cNvSpPr/>
          <p:nvPr/>
        </p:nvSpPr>
        <p:spPr>
          <a:xfrm>
            <a:off x="809640" y="4546080"/>
            <a:ext cx="380520" cy="1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369A1"/>
                </a:solidFill>
                <a:effectLst/>
                <a:uFillTx/>
                <a:latin typeface="Arial"/>
              </a:rPr>
              <a:t>Forte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69"/>
          <p:cNvSpPr/>
          <p:nvPr/>
        </p:nvSpPr>
        <p:spPr>
          <a:xfrm>
            <a:off x="809640" y="4812840"/>
            <a:ext cx="730080" cy="1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6B21A8"/>
                </a:solidFill>
                <a:effectLst/>
                <a:uFillTx/>
                <a:latin typeface="Arial"/>
              </a:rPr>
              <a:t>Associativa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70"/>
          <p:cNvSpPr/>
          <p:nvPr/>
        </p:nvSpPr>
        <p:spPr>
          <a:xfrm>
            <a:off x="809640" y="5079600"/>
            <a:ext cx="399960" cy="1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9F1239"/>
                </a:solidFill>
                <a:effectLst/>
                <a:uFillTx/>
                <a:latin typeface="Arial"/>
              </a:rPr>
              <a:t>Fraca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71"/>
          <p:cNvSpPr/>
          <p:nvPr/>
        </p:nvSpPr>
        <p:spPr>
          <a:xfrm>
            <a:off x="809640" y="5427360"/>
            <a:ext cx="399960" cy="1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9F1239"/>
                </a:solidFill>
                <a:effectLst/>
                <a:uFillTx/>
                <a:latin typeface="Arial"/>
              </a:rPr>
              <a:t>Fraca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1"/>
          <p:cNvSpPr/>
          <p:nvPr/>
        </p:nvSpPr>
        <p:spPr>
          <a:xfrm>
            <a:off x="0" y="0"/>
            <a:ext cx="12191760" cy="111024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Rectangle 2"/>
          <p:cNvSpPr/>
          <p:nvPr/>
        </p:nvSpPr>
        <p:spPr>
          <a:xfrm>
            <a:off x="0" y="1100880"/>
            <a:ext cx="12191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Rounded Rectangle 3"/>
          <p:cNvSpPr/>
          <p:nvPr/>
        </p:nvSpPr>
        <p:spPr>
          <a:xfrm>
            <a:off x="609480" y="2382120"/>
            <a:ext cx="10972440" cy="1535040"/>
          </a:xfrm>
          <a:prstGeom prst="roundRect">
            <a:avLst>
              <a:gd name="adj" fmla="val 6203"/>
            </a:avLst>
          </a:prstGeom>
          <a:solidFill>
            <a:srgbClr val="0F172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Rounded Rectangle 4"/>
          <p:cNvSpPr/>
          <p:nvPr/>
        </p:nvSpPr>
        <p:spPr>
          <a:xfrm>
            <a:off x="609480" y="4107960"/>
            <a:ext cx="3530160" cy="1325880"/>
          </a:xfrm>
          <a:prstGeom prst="roundRect">
            <a:avLst>
              <a:gd name="adj" fmla="val 8617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Rounded Rectangle 5"/>
          <p:cNvSpPr/>
          <p:nvPr/>
        </p:nvSpPr>
        <p:spPr>
          <a:xfrm>
            <a:off x="4330800" y="4107960"/>
            <a:ext cx="3530160" cy="1325880"/>
          </a:xfrm>
          <a:prstGeom prst="roundRect">
            <a:avLst>
              <a:gd name="adj" fmla="val 8617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Rounded Rectangle 6"/>
          <p:cNvSpPr/>
          <p:nvPr/>
        </p:nvSpPr>
        <p:spPr>
          <a:xfrm>
            <a:off x="8051760" y="4107960"/>
            <a:ext cx="3530160" cy="1325880"/>
          </a:xfrm>
          <a:prstGeom prst="roundRect">
            <a:avLst>
              <a:gd name="adj" fmla="val 8617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TextBox 7"/>
          <p:cNvSpPr/>
          <p:nvPr/>
        </p:nvSpPr>
        <p:spPr>
          <a:xfrm>
            <a:off x="609480" y="380880"/>
            <a:ext cx="1158192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PARTE 4 • MAPEAMENTO LÓGICO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8"/>
          <p:cNvSpPr/>
          <p:nvPr/>
        </p:nvSpPr>
        <p:spPr>
          <a:xfrm>
            <a:off x="609480" y="590400"/>
            <a:ext cx="115819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520"/>
              </a:lnSpc>
            </a:pPr>
            <a:r>
              <a:rPr lang="en-US" sz="210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Modelo Lógico Relacional &amp; Decisões de Projeto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9"/>
          <p:cNvSpPr/>
          <p:nvPr/>
        </p:nvSpPr>
        <p:spPr>
          <a:xfrm>
            <a:off x="838080" y="2572560"/>
            <a:ext cx="113533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144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ESQUEMA RELACIONAL DERIVADO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10"/>
          <p:cNvSpPr/>
          <p:nvPr/>
        </p:nvSpPr>
        <p:spPr>
          <a:xfrm>
            <a:off x="838080" y="2812320"/>
            <a:ext cx="113533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1800"/>
              </a:lnSpc>
            </a:pPr>
            <a:r>
              <a:rPr lang="en-US" sz="1130" b="1" u="none" strike="noStrike">
                <a:solidFill>
                  <a:srgbClr val="F8FAFC"/>
                </a:solidFill>
                <a:effectLst/>
                <a:uFillTx/>
                <a:latin typeface="Consolas"/>
              </a:rPr>
              <a:t>pessoa</a:t>
            </a:r>
            <a:r>
              <a:rPr lang="en-US" sz="113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(</a:t>
            </a:r>
            <a:r>
              <a:rPr lang="en-US" sz="1130" b="0" u="sng" strike="noStrike">
                <a:solidFill>
                  <a:srgbClr val="38BDF8"/>
                </a:solidFill>
                <a:effectLst/>
                <a:uFillTx/>
                <a:latin typeface="Consolas"/>
              </a:rPr>
              <a:t>id_pessoa [PK]</a:t>
            </a:r>
            <a:r>
              <a:rPr lang="en-US" sz="113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, nome, cpf [UQ], email [UQ], telefone, ativo)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11"/>
          <p:cNvSpPr/>
          <p:nvPr/>
        </p:nvSpPr>
        <p:spPr>
          <a:xfrm>
            <a:off x="838080" y="3040920"/>
            <a:ext cx="113533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1800"/>
              </a:lnSpc>
            </a:pPr>
            <a:r>
              <a:rPr lang="en-US" sz="1130" b="1" u="none" strike="noStrike">
                <a:solidFill>
                  <a:srgbClr val="F8FAFC"/>
                </a:solidFill>
                <a:effectLst/>
                <a:uFillTx/>
                <a:latin typeface="Consolas"/>
              </a:rPr>
              <a:t>vendedor</a:t>
            </a:r>
            <a:r>
              <a:rPr lang="en-US" sz="113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(</a:t>
            </a:r>
            <a:r>
              <a:rPr lang="en-US" sz="1130" b="0" u="sng" strike="noStrike">
                <a:solidFill>
                  <a:srgbClr val="38BDF8"/>
                </a:solidFill>
                <a:effectLst/>
                <a:uFillTx/>
                <a:latin typeface="Consolas"/>
              </a:rPr>
              <a:t>id_pessoa [PK, FK]</a:t>
            </a:r>
            <a:r>
              <a:rPr lang="en-US" sz="113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, login [UQ], senha_hash)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12"/>
          <p:cNvSpPr/>
          <p:nvPr/>
        </p:nvSpPr>
        <p:spPr>
          <a:xfrm>
            <a:off x="838080" y="3269520"/>
            <a:ext cx="113533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1800"/>
              </a:lnSpc>
            </a:pPr>
            <a:r>
              <a:rPr lang="en-US" sz="1130" b="1" u="none" strike="noStrike">
                <a:solidFill>
                  <a:srgbClr val="F8FAFC"/>
                </a:solidFill>
                <a:effectLst/>
                <a:uFillTx/>
                <a:latin typeface="Consolas"/>
              </a:rPr>
              <a:t>pedido</a:t>
            </a:r>
            <a:r>
              <a:rPr lang="en-US" sz="113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(</a:t>
            </a:r>
            <a:r>
              <a:rPr lang="en-US" sz="1130" b="0" u="sng" strike="noStrike">
                <a:solidFill>
                  <a:srgbClr val="38BDF8"/>
                </a:solidFill>
                <a:effectLst/>
                <a:uFillTx/>
                <a:latin typeface="Consolas"/>
              </a:rPr>
              <a:t>id_pedido [PK]</a:t>
            </a:r>
            <a:r>
              <a:rPr lang="en-US" sz="113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, id_cliente [FK], id_vendedor [FK], data_emissao, valor_total)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13"/>
          <p:cNvSpPr/>
          <p:nvPr/>
        </p:nvSpPr>
        <p:spPr>
          <a:xfrm>
            <a:off x="838080" y="3498120"/>
            <a:ext cx="113533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1800"/>
              </a:lnSpc>
            </a:pPr>
            <a:r>
              <a:rPr lang="en-US" sz="1130" b="1" u="none" strike="noStrike">
                <a:solidFill>
                  <a:srgbClr val="F8FAFC"/>
                </a:solidFill>
                <a:effectLst/>
                <a:uFillTx/>
                <a:latin typeface="Consolas"/>
              </a:rPr>
              <a:t>item_pedido</a:t>
            </a:r>
            <a:r>
              <a:rPr lang="en-US" sz="113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(</a:t>
            </a:r>
            <a:r>
              <a:rPr lang="en-US" sz="1130" b="0" u="sng" strike="noStrike">
                <a:solidFill>
                  <a:srgbClr val="38BDF8"/>
                </a:solidFill>
                <a:effectLst/>
                <a:uFillTx/>
                <a:latin typeface="Consolas"/>
              </a:rPr>
              <a:t>id_pedido [PK, FK], id_produto [PK, FK]</a:t>
            </a:r>
            <a:r>
              <a:rPr lang="en-US" sz="113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, quantidade, preco_unitario, subtotal)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14"/>
          <p:cNvSpPr/>
          <p:nvPr/>
        </p:nvSpPr>
        <p:spPr>
          <a:xfrm>
            <a:off x="847800" y="4345920"/>
            <a:ext cx="400860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Estratégia Tabela por Classe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15"/>
          <p:cNvSpPr/>
          <p:nvPr/>
        </p:nvSpPr>
        <p:spPr>
          <a:xfrm>
            <a:off x="847800" y="4574520"/>
            <a:ext cx="3149280" cy="62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ts val="1630"/>
              </a:lnSpc>
            </a:pP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Evita valores nulos obrigatórios em dados sensíveis de acesso mantendo tabela pai e tabelas filhas especializadas.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4568760" y="4345920"/>
            <a:ext cx="400860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Chaves Substitutas Numéricas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4568760" y="4574520"/>
            <a:ext cx="3149280" cy="62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ts val="1630"/>
              </a:lnSpc>
            </a:pP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Uso de AUTO_INCREMENT para otimização de junções JOIN em memória RAM, isolando alterações de CPF/CNPJ.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18"/>
          <p:cNvSpPr/>
          <p:nvPr/>
        </p:nvSpPr>
        <p:spPr>
          <a:xfrm>
            <a:off x="8290080" y="4345920"/>
            <a:ext cx="390168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Preservação do Histórico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19"/>
          <p:cNvSpPr/>
          <p:nvPr/>
        </p:nvSpPr>
        <p:spPr>
          <a:xfrm>
            <a:off x="8290080" y="4574520"/>
            <a:ext cx="3149280" cy="62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ts val="1630"/>
              </a:lnSpc>
            </a:pP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Arial"/>
              </a:rPr>
              <a:t>Atributo preco_unitario congelado na tabela associativa para evitar alteração retroativa no faturamento.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ectangle 1"/>
          <p:cNvSpPr/>
          <p:nvPr/>
        </p:nvSpPr>
        <p:spPr>
          <a:xfrm>
            <a:off x="0" y="0"/>
            <a:ext cx="12191760" cy="111024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Rectangle 2"/>
          <p:cNvSpPr/>
          <p:nvPr/>
        </p:nvSpPr>
        <p:spPr>
          <a:xfrm>
            <a:off x="0" y="1100880"/>
            <a:ext cx="12191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5" name="TextBox 7"/>
          <p:cNvSpPr/>
          <p:nvPr/>
        </p:nvSpPr>
        <p:spPr>
          <a:xfrm>
            <a:off x="609480" y="380880"/>
            <a:ext cx="1158192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PARTE 4 • MAPEAMENTO LÓGICO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8"/>
          <p:cNvSpPr/>
          <p:nvPr/>
        </p:nvSpPr>
        <p:spPr>
          <a:xfrm>
            <a:off x="609480" y="590400"/>
            <a:ext cx="115819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520"/>
              </a:lnSpc>
            </a:pPr>
            <a:r>
              <a:rPr lang="en-US" sz="210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Modelo Lógico Relacional &amp; Decisões de Projeto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7" name="Picture 20" descr="A computer screen shot of a diagram&#10;&#10;AI-generated content may be incorrect."/>
          <p:cNvPicPr/>
          <p:nvPr/>
        </p:nvPicPr>
        <p:blipFill>
          <a:blip r:embed="rId2"/>
          <a:stretch/>
        </p:blipFill>
        <p:spPr>
          <a:xfrm>
            <a:off x="1661760" y="910440"/>
            <a:ext cx="8878320" cy="59472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1"/>
          <p:cNvSpPr/>
          <p:nvPr/>
        </p:nvSpPr>
        <p:spPr>
          <a:xfrm>
            <a:off x="0" y="0"/>
            <a:ext cx="12191760" cy="111024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Rectangle 2"/>
          <p:cNvSpPr/>
          <p:nvPr/>
        </p:nvSpPr>
        <p:spPr>
          <a:xfrm>
            <a:off x="0" y="1100880"/>
            <a:ext cx="121917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Rounded Rectangle 3"/>
          <p:cNvSpPr/>
          <p:nvPr/>
        </p:nvSpPr>
        <p:spPr>
          <a:xfrm>
            <a:off x="609480" y="2229840"/>
            <a:ext cx="5381280" cy="1308240"/>
          </a:xfrm>
          <a:prstGeom prst="roundRect">
            <a:avLst>
              <a:gd name="adj" fmla="val 8734"/>
            </a:avLst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Rounded Rectangle 4"/>
          <p:cNvSpPr/>
          <p:nvPr/>
        </p:nvSpPr>
        <p:spPr>
          <a:xfrm>
            <a:off x="6219720" y="2221200"/>
            <a:ext cx="5362200" cy="1325160"/>
          </a:xfrm>
          <a:prstGeom prst="roundRect">
            <a:avLst>
              <a:gd name="adj" fmla="val 8622"/>
            </a:avLst>
          </a:prstGeom>
          <a:solidFill>
            <a:srgbClr val="0F172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Rectangle 5"/>
          <p:cNvSpPr/>
          <p:nvPr/>
        </p:nvSpPr>
        <p:spPr>
          <a:xfrm>
            <a:off x="619200" y="4213800"/>
            <a:ext cx="413316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Rectangle 6"/>
          <p:cNvSpPr/>
          <p:nvPr/>
        </p:nvSpPr>
        <p:spPr>
          <a:xfrm>
            <a:off x="4752720" y="4213800"/>
            <a:ext cx="244908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Rectangle 7"/>
          <p:cNvSpPr/>
          <p:nvPr/>
        </p:nvSpPr>
        <p:spPr>
          <a:xfrm>
            <a:off x="7201800" y="4213800"/>
            <a:ext cx="235584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Rectangle 8"/>
          <p:cNvSpPr/>
          <p:nvPr/>
        </p:nvSpPr>
        <p:spPr>
          <a:xfrm>
            <a:off x="9558000" y="4213800"/>
            <a:ext cx="201456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Rectangle 9"/>
          <p:cNvSpPr/>
          <p:nvPr/>
        </p:nvSpPr>
        <p:spPr>
          <a:xfrm>
            <a:off x="619200" y="4671000"/>
            <a:ext cx="41331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Rectangle 10"/>
          <p:cNvSpPr/>
          <p:nvPr/>
        </p:nvSpPr>
        <p:spPr>
          <a:xfrm>
            <a:off x="4752720" y="4671000"/>
            <a:ext cx="244908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Rectangle 11"/>
          <p:cNvSpPr/>
          <p:nvPr/>
        </p:nvSpPr>
        <p:spPr>
          <a:xfrm>
            <a:off x="7201800" y="4671000"/>
            <a:ext cx="235584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Rectangle 12"/>
          <p:cNvSpPr/>
          <p:nvPr/>
        </p:nvSpPr>
        <p:spPr>
          <a:xfrm>
            <a:off x="9558000" y="4671000"/>
            <a:ext cx="20145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0" name="Rectangle 13"/>
          <p:cNvSpPr/>
          <p:nvPr/>
        </p:nvSpPr>
        <p:spPr>
          <a:xfrm>
            <a:off x="619200" y="5128200"/>
            <a:ext cx="41331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14"/>
          <p:cNvSpPr/>
          <p:nvPr/>
        </p:nvSpPr>
        <p:spPr>
          <a:xfrm>
            <a:off x="4752720" y="5128200"/>
            <a:ext cx="244908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15"/>
          <p:cNvSpPr/>
          <p:nvPr/>
        </p:nvSpPr>
        <p:spPr>
          <a:xfrm>
            <a:off x="7201800" y="5128200"/>
            <a:ext cx="235584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Rectangle 16"/>
          <p:cNvSpPr/>
          <p:nvPr/>
        </p:nvSpPr>
        <p:spPr>
          <a:xfrm>
            <a:off x="9558000" y="5128200"/>
            <a:ext cx="2014560" cy="900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5640" rIns="90000" bIns="-356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54" name="Table 21"/>
          <p:cNvGraphicFramePr/>
          <p:nvPr/>
        </p:nvGraphicFramePr>
        <p:xfrm>
          <a:off x="619200" y="3869280"/>
          <a:ext cx="10963440" cy="2503440"/>
        </p:xfrm>
        <a:graphic>
          <a:graphicData uri="http://schemas.openxmlformats.org/drawingml/2006/table">
            <a:tbl>
              <a:tblPr/>
              <a:tblGrid>
                <a:gridCol w="331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9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0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99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Arial"/>
                        </a:rPr>
                        <a:t>Análise de Normalização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Arial"/>
                        </a:rPr>
                        <a:t>1FN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Arial"/>
                        </a:rPr>
                        <a:t>2FN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3FN</a:t>
                      </a: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FNBC</a:t>
                      </a: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Pessoa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Todos os atributos contêm apenas valores atômicos e escalares.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 chave primária (id_pessoa) é simples,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Não há dependências transitivas entre atributos não chave.</a:t>
                      </a: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id_pessoa, cpf, e-mail alcançam a FNBC.</a:t>
                      </a: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Vendedor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 chave primária é simples.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Não existem dependências parciais.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Atributos não-chave dependem da chave primária (id_pessoa) sem transitividade.</a:t>
                      </a: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id_pessoa e login alcançam a FNBC.</a:t>
                      </a: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Arial"/>
                        </a:rPr>
                        <a:t>Cliente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Sem múltiplos valores nos atributos. 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 chave estrangeira id_vendedor e o atributo data_cadastro dependem da chave primãria.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Não há dependências transitivas entre atributos não chave.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id_pessoa alcança a FNBC.</a:t>
                      </a:r>
                    </a:p>
                  </a:txBody>
                  <a:tcPr marL="63360" marR="63360" marT="25200" marB="252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5" name="TextBox 22"/>
          <p:cNvSpPr/>
          <p:nvPr/>
        </p:nvSpPr>
        <p:spPr>
          <a:xfrm>
            <a:off x="609480" y="380880"/>
            <a:ext cx="1158192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PARTE 5 • VALIDAÇÃO TÉCNICA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23"/>
          <p:cNvSpPr/>
          <p:nvPr/>
        </p:nvSpPr>
        <p:spPr>
          <a:xfrm>
            <a:off x="609480" y="590400"/>
            <a:ext cx="115819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2520"/>
              </a:lnSpc>
            </a:pPr>
            <a:r>
              <a:rPr lang="en-US" sz="210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Verificação de Normalização &amp; Resultados Obtidos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24"/>
          <p:cNvSpPr/>
          <p:nvPr/>
        </p:nvSpPr>
        <p:spPr>
          <a:xfrm>
            <a:off x="809640" y="2429640"/>
            <a:ext cx="6226560" cy="15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Conformidade com Formas Normais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26"/>
          <p:cNvSpPr/>
          <p:nvPr/>
        </p:nvSpPr>
        <p:spPr>
          <a:xfrm>
            <a:off x="809640" y="2658240"/>
            <a:ext cx="2822760" cy="226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1786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1FN:</a:t>
            </a: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Arial"/>
              </a:rPr>
              <a:t> Atributos atômicos sem grupos repetitivos.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27"/>
          <p:cNvSpPr/>
          <p:nvPr/>
        </p:nvSpPr>
        <p:spPr>
          <a:xfrm>
            <a:off x="809640" y="2885040"/>
            <a:ext cx="6226560" cy="226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1786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2FN:</a:t>
            </a: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Arial"/>
              </a:rPr>
              <a:t> Dependência funcional total da chave primária.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28"/>
          <p:cNvSpPr/>
          <p:nvPr/>
        </p:nvSpPr>
        <p:spPr>
          <a:xfrm>
            <a:off x="809640" y="3111840"/>
            <a:ext cx="3522600" cy="226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457200">
              <a:lnSpc>
                <a:spcPts val="1786"/>
              </a:lnSpc>
            </a:pPr>
            <a:r>
              <a:rPr lang="en-US" sz="1050" b="1" u="none" strike="noStrike">
                <a:solidFill>
                  <a:srgbClr val="2563EB"/>
                </a:solidFill>
                <a:effectLst/>
                <a:uFillTx/>
                <a:latin typeface="Arial"/>
              </a:rPr>
              <a:t>3FN &amp; FNBC:</a:t>
            </a: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Arial"/>
              </a:rPr>
              <a:t> Eliminação total de dependências transitivas.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1" name="Imagem 260"/>
          <p:cNvPicPr/>
          <p:nvPr/>
        </p:nvPicPr>
        <p:blipFill>
          <a:blip r:embed="rId2"/>
          <a:stretch/>
        </p:blipFill>
        <p:spPr>
          <a:xfrm>
            <a:off x="6219720" y="2221200"/>
            <a:ext cx="5362200" cy="13251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ounded Rectangle 1"/>
          <p:cNvSpPr/>
          <p:nvPr/>
        </p:nvSpPr>
        <p:spPr>
          <a:xfrm>
            <a:off x="5455800" y="4343400"/>
            <a:ext cx="1280160" cy="418680"/>
          </a:xfrm>
          <a:prstGeom prst="roundRect">
            <a:avLst>
              <a:gd name="adj" fmla="val 18181"/>
            </a:avLst>
          </a:prstGeom>
          <a:solidFill>
            <a:srgbClr val="1E293B"/>
          </a:solidFill>
          <a:ln>
            <a:solidFill>
              <a:srgbClr val="334155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63" name="Picture 2" descr="image.png"/>
          <p:cNvPicPr/>
          <p:nvPr/>
        </p:nvPicPr>
        <p:blipFill>
          <a:blip r:embed="rId2"/>
          <a:stretch/>
        </p:blipFill>
        <p:spPr>
          <a:xfrm>
            <a:off x="5810400" y="2095560"/>
            <a:ext cx="571320" cy="571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Picture 3" descr="image.png"/>
          <p:cNvPicPr/>
          <p:nvPr/>
        </p:nvPicPr>
        <p:blipFill>
          <a:blip r:embed="rId3"/>
          <a:stretch/>
        </p:blipFill>
        <p:spPr>
          <a:xfrm>
            <a:off x="5996160" y="2266920"/>
            <a:ext cx="19980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Box 4"/>
          <p:cNvSpPr/>
          <p:nvPr/>
        </p:nvSpPr>
        <p:spPr>
          <a:xfrm>
            <a:off x="884160" y="2895480"/>
            <a:ext cx="10423440" cy="47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3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Sistema Gerenciador de Loja Finalizado</a:t>
            </a:r>
            <a:endParaRPr lang="pt-BR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5"/>
          <p:cNvSpPr/>
          <p:nvPr/>
        </p:nvSpPr>
        <p:spPr>
          <a:xfrm>
            <a:off x="2286000" y="3524400"/>
            <a:ext cx="7619760" cy="5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ts val="2024"/>
              </a:lnSpc>
            </a:pPr>
            <a:r>
              <a:rPr lang="en-US" sz="1350" b="0" u="none" strike="noStrike">
                <a:solidFill>
                  <a:srgbClr val="94A3B8"/>
                </a:solidFill>
                <a:effectLst/>
                <a:uFillTx/>
                <a:latin typeface="Arial"/>
              </a:rPr>
              <a:t>O SGL atende a todos os requisitos operacionais, de integridade e desempenho estipulados para a aprovação no curso de Laboratório de Banco de Dados.</a:t>
            </a:r>
            <a:endParaRPr lang="pt-B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6"/>
          <p:cNvSpPr/>
          <p:nvPr/>
        </p:nvSpPr>
        <p:spPr>
          <a:xfrm>
            <a:off x="5562360" y="4457880"/>
            <a:ext cx="1067040" cy="19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38BDF8"/>
                </a:solidFill>
                <a:effectLst/>
                <a:uFillTx/>
                <a:latin typeface="Arial"/>
              </a:rPr>
              <a:t>Obrigado!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987</Words>
  <Application>Microsoft Office PowerPoint</Application>
  <PresentationFormat>Widescreen</PresentationFormat>
  <Paragraphs>135</Paragraphs>
  <Slides>9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0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Jhony Moraes da Silva</dc:creator>
  <dc:description>generated using python-pptx</dc:description>
  <cp:lastModifiedBy>Jhony Moraes da Silva</cp:lastModifiedBy>
  <cp:revision>22</cp:revision>
  <cp:lastPrinted>2026-09-29T00:46:55Z</cp:lastPrinted>
  <dcterms:created xsi:type="dcterms:W3CDTF">2013-01-27T09:14:16Z</dcterms:created>
  <dcterms:modified xsi:type="dcterms:W3CDTF">2026-09-29T11:19:01Z</dcterms:modified>
  <dc:language>pt-BR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